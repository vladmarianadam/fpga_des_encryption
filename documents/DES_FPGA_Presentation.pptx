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971" autoAdjust="0"/>
  </p:normalViewPr>
  <p:slideViewPr>
    <p:cSldViewPr snapToGrid="0" snapToObjects="1">
      <p:cViewPr varScale="1">
        <p:scale>
          <a:sx n="82" d="100"/>
          <a:sy n="82" d="100"/>
        </p:scale>
        <p:origin x="1674"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Substituent dată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DB5AD2-2822-4E5C-A8D7-F9AE5328D6E1}" type="datetimeFigureOut">
              <a:rPr lang="en-US" smtClean="0"/>
              <a:t>06-Feb-26</a:t>
            </a:fld>
            <a:endParaRPr lang="en-US"/>
          </a:p>
        </p:txBody>
      </p:sp>
      <p:sp>
        <p:nvSpPr>
          <p:cNvPr id="4" name="Substituent imagine diapozitiv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Substituent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endParaRPr lang="en-US"/>
          </a:p>
        </p:txBody>
      </p:sp>
      <p:sp>
        <p:nvSpPr>
          <p:cNvPr id="6" name="Substituent subsol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ubstituent număr diapozitiv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E58799-361E-4E5F-83AF-B152390BF3EE}" type="slidenum">
              <a:rPr lang="en-US" smtClean="0"/>
              <a:t>‹#›</a:t>
            </a:fld>
            <a:endParaRPr lang="en-US"/>
          </a:p>
        </p:txBody>
      </p:sp>
    </p:spTree>
    <p:extLst>
      <p:ext uri="{BB962C8B-B14F-4D97-AF65-F5344CB8AC3E}">
        <p14:creationId xmlns:p14="http://schemas.microsoft.com/office/powerpoint/2010/main" val="10359086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r>
              <a:rPr lang="en-US" dirty="0"/>
              <a:t>These pragmas define the physical "pins" or ports on the FPGA chip that allow your DES core to communicate with the rest of the system.</a:t>
            </a:r>
          </a:p>
          <a:p>
            <a:pPr marL="171450" indent="-171450">
              <a:buFont typeface="Arial" panose="020B0604020202020204" pitchFamily="34" charset="0"/>
              <a:buChar char="•"/>
            </a:pPr>
            <a:r>
              <a:rPr lang="en-US" dirty="0"/>
              <a:t>mode=</a:t>
            </a:r>
            <a:r>
              <a:rPr lang="en-US" dirty="0" err="1"/>
              <a:t>ap_ctrl_hs</a:t>
            </a:r>
            <a:r>
              <a:rPr lang="en-US" dirty="0"/>
              <a:t> port=return: This creates the block-level control protocol. It adds hardware signals like </a:t>
            </a:r>
            <a:r>
              <a:rPr lang="en-US" dirty="0" err="1"/>
              <a:t>ap_start</a:t>
            </a:r>
            <a:r>
              <a:rPr lang="en-US" dirty="0"/>
              <a:t> (to begin encryption), </a:t>
            </a:r>
            <a:r>
              <a:rPr lang="en-US" dirty="0" err="1"/>
              <a:t>ap_ready</a:t>
            </a:r>
            <a:r>
              <a:rPr lang="en-US" dirty="0"/>
              <a:t>, and </a:t>
            </a:r>
            <a:r>
              <a:rPr lang="en-US" dirty="0" err="1"/>
              <a:t>ap_done</a:t>
            </a:r>
            <a:r>
              <a:rPr lang="en-US" dirty="0"/>
              <a:t> (to signal completion).</a:t>
            </a:r>
          </a:p>
          <a:p>
            <a:pPr marL="171450" indent="-171450">
              <a:buFont typeface="Arial" panose="020B0604020202020204" pitchFamily="34" charset="0"/>
              <a:buChar char="•"/>
            </a:pPr>
            <a:r>
              <a:rPr lang="en-US" dirty="0"/>
              <a:t>mode=</a:t>
            </a:r>
            <a:r>
              <a:rPr lang="en-US" dirty="0" err="1"/>
              <a:t>ap_none</a:t>
            </a:r>
            <a:r>
              <a:rPr lang="en-US" dirty="0"/>
              <a:t>: This tells the tool that the plaintext and key inputs are simple data wires with no additional handshake logic.</a:t>
            </a:r>
          </a:p>
          <a:p>
            <a:pPr marL="171450" indent="-171450">
              <a:buFont typeface="Arial" panose="020B0604020202020204" pitchFamily="34" charset="0"/>
              <a:buChar char="•"/>
            </a:pPr>
            <a:r>
              <a:rPr lang="en-US" dirty="0"/>
              <a:t>mode=</a:t>
            </a:r>
            <a:r>
              <a:rPr lang="en-US" dirty="0" err="1"/>
              <a:t>ap_vld</a:t>
            </a:r>
            <a:r>
              <a:rPr lang="en-US" dirty="0"/>
              <a:t> port=ciphertext: This adds an "output valid" signal to the ciphertext port. It tells the receiving hardware exactly when the encryption is finished and the data is ready to be read.</a:t>
            </a:r>
          </a:p>
          <a:p>
            <a:endParaRPr lang="en-US" dirty="0"/>
          </a:p>
          <a:p>
            <a:r>
              <a:rPr lang="en-US" dirty="0"/>
              <a:t>#pragma HLS UNROLL:</a:t>
            </a:r>
          </a:p>
          <a:p>
            <a:r>
              <a:rPr lang="en-US" dirty="0"/>
              <a:t>Used in your permutation and round loops.</a:t>
            </a:r>
          </a:p>
          <a:p>
            <a:r>
              <a:rPr lang="en-US" dirty="0"/>
              <a:t>Instead of performing 16 rounds sequentially (one after another), "unrolling" creates 16 physical copies of the logic. This allows the FPGA to process the data in parallel rather than waiting for a loop counter to increment</a:t>
            </a: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#pragma HLS INLINE</a:t>
            </a:r>
            <a:r>
              <a:rPr lang="en-US" dirty="0"/>
              <a:t> eliminates function call overhead by dissolving a sub-function's logic directly into its caller, allowing the hardware compiler to optimize across boundaries and improve bit-level parallelism for tasks like permutations.</a:t>
            </a:r>
          </a:p>
        </p:txBody>
      </p:sp>
      <p:sp>
        <p:nvSpPr>
          <p:cNvPr id="4" name="Substituent număr diapozitiv 3"/>
          <p:cNvSpPr>
            <a:spLocks noGrp="1"/>
          </p:cNvSpPr>
          <p:nvPr>
            <p:ph type="sldNum" sz="quarter" idx="5"/>
          </p:nvPr>
        </p:nvSpPr>
        <p:spPr/>
        <p:txBody>
          <a:bodyPr/>
          <a:lstStyle/>
          <a:p>
            <a:fld id="{91E58799-361E-4E5F-83AF-B152390BF3EE}" type="slidenum">
              <a:rPr lang="en-US" smtClean="0"/>
              <a:t>4</a:t>
            </a:fld>
            <a:endParaRPr lang="en-US"/>
          </a:p>
        </p:txBody>
      </p:sp>
    </p:spTree>
    <p:extLst>
      <p:ext uri="{BB962C8B-B14F-4D97-AF65-F5344CB8AC3E}">
        <p14:creationId xmlns:p14="http://schemas.microsoft.com/office/powerpoint/2010/main" val="3654717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06-Feb-26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06-Feb-26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06-Feb-26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06-Feb-26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06-Feb-26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06-Feb-26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06-Feb-26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06-Feb-26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06-Feb-26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06-Feb-26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06-Feb-26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06-Feb-26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0"/>
            <a:ext cx="11277295" cy="914400"/>
          </a:xfrm>
          <a:prstGeom prst="rect">
            <a:avLst/>
          </a:prstGeom>
          <a:noFill/>
        </p:spPr>
        <p:txBody>
          <a:bodyPr wrap="square">
            <a:spAutoFit/>
          </a:bodyPr>
          <a:lstStyle/>
          <a:p>
            <a:pPr algn="ctr">
              <a:defRPr sz="5200" b="1">
                <a:solidFill>
                  <a:srgbClr val="FFFFFF"/>
                </a:solidFill>
                <a:latin typeface="Calibri"/>
              </a:defRPr>
            </a:pPr>
            <a:r>
              <a:rPr dirty="0"/>
              <a:t>DES Encryption Algorithm</a:t>
            </a:r>
          </a:p>
        </p:txBody>
      </p:sp>
      <p:sp>
        <p:nvSpPr>
          <p:cNvPr id="4" name="TextBox 3"/>
          <p:cNvSpPr txBox="1"/>
          <p:nvPr/>
        </p:nvSpPr>
        <p:spPr>
          <a:xfrm>
            <a:off x="457200" y="2651760"/>
            <a:ext cx="11277295" cy="548640"/>
          </a:xfrm>
          <a:prstGeom prst="rect">
            <a:avLst/>
          </a:prstGeom>
          <a:noFill/>
        </p:spPr>
        <p:txBody>
          <a:bodyPr wrap="square">
            <a:spAutoFit/>
          </a:bodyPr>
          <a:lstStyle/>
          <a:p>
            <a:pPr algn="ctr">
              <a:defRPr sz="2800" b="0">
                <a:solidFill>
                  <a:srgbClr val="98C1D9"/>
                </a:solidFill>
                <a:latin typeface="Calibri"/>
              </a:defRPr>
            </a:pPr>
            <a:r>
              <a:rPr dirty="0"/>
              <a:t>FPGA Implementation using Vitis HLS</a:t>
            </a:r>
          </a:p>
        </p:txBody>
      </p:sp>
      <p:sp>
        <p:nvSpPr>
          <p:cNvPr id="5" name="TextBox 4"/>
          <p:cNvSpPr txBox="1"/>
          <p:nvPr/>
        </p:nvSpPr>
        <p:spPr>
          <a:xfrm>
            <a:off x="457200" y="4114800"/>
            <a:ext cx="11277295" cy="457200"/>
          </a:xfrm>
          <a:prstGeom prst="rect">
            <a:avLst/>
          </a:prstGeom>
          <a:noFill/>
        </p:spPr>
        <p:txBody>
          <a:bodyPr wrap="square">
            <a:spAutoFit/>
          </a:bodyPr>
          <a:lstStyle/>
          <a:p>
            <a:pPr algn="ctr">
              <a:defRPr sz="1600" b="0">
                <a:solidFill>
                  <a:srgbClr val="98C1D9"/>
                </a:solidFill>
                <a:latin typeface="Calibri"/>
              </a:defRPr>
            </a:pPr>
            <a:r>
              <a:t>Target: Xilinx Artix-7 xc7a100tcsg324-1</a:t>
            </a:r>
          </a:p>
        </p:txBody>
      </p:sp>
      <p:sp>
        <p:nvSpPr>
          <p:cNvPr id="6" name="TextBox 5"/>
          <p:cNvSpPr txBox="1"/>
          <p:nvPr/>
        </p:nvSpPr>
        <p:spPr>
          <a:xfrm>
            <a:off x="457200" y="5175278"/>
            <a:ext cx="4251960" cy="338554"/>
          </a:xfrm>
          <a:prstGeom prst="rect">
            <a:avLst/>
          </a:prstGeom>
          <a:noFill/>
        </p:spPr>
        <p:txBody>
          <a:bodyPr wrap="square">
            <a:spAutoFit/>
          </a:bodyPr>
          <a:lstStyle/>
          <a:p>
            <a:pPr algn="ctr">
              <a:defRPr sz="1400" b="0">
                <a:solidFill>
                  <a:srgbClr val="64748B"/>
                </a:solidFill>
                <a:latin typeface="Calibri"/>
              </a:defRPr>
            </a:pPr>
            <a:r>
              <a:rPr lang="en-US" sz="1600" dirty="0">
                <a:solidFill>
                  <a:schemeClr val="bg1"/>
                </a:solidFill>
              </a:rPr>
              <a:t>ADAM Marian-</a:t>
            </a:r>
            <a:r>
              <a:rPr lang="en-US" sz="1600" dirty="0" err="1">
                <a:solidFill>
                  <a:schemeClr val="bg1"/>
                </a:solidFill>
              </a:rPr>
              <a:t>Vladut</a:t>
            </a:r>
            <a:r>
              <a:rPr lang="en-US" sz="1600" dirty="0">
                <a:solidFill>
                  <a:schemeClr val="bg1"/>
                </a:solidFill>
              </a:rPr>
              <a:t> SAS2</a:t>
            </a:r>
            <a:endParaRPr sz="1600" dirty="0">
              <a:solidFill>
                <a:schemeClr val="bg1"/>
              </a:solidFill>
            </a:endParaRPr>
          </a:p>
        </p:txBody>
      </p:sp>
      <p:sp>
        <p:nvSpPr>
          <p:cNvPr id="7" name="TextBox 6"/>
          <p:cNvSpPr txBox="1"/>
          <p:nvPr/>
        </p:nvSpPr>
        <p:spPr>
          <a:xfrm>
            <a:off x="457200" y="5943600"/>
            <a:ext cx="11277295" cy="457200"/>
          </a:xfrm>
          <a:prstGeom prst="rect">
            <a:avLst/>
          </a:prstGeom>
          <a:noFill/>
        </p:spPr>
        <p:txBody>
          <a:bodyPr wrap="square">
            <a:spAutoFit/>
          </a:bodyPr>
          <a:lstStyle/>
          <a:p>
            <a:pPr algn="ctr">
              <a:defRPr sz="1400" b="0">
                <a:solidFill>
                  <a:srgbClr val="64748B"/>
                </a:solidFill>
                <a:latin typeface="Calibri"/>
              </a:defRPr>
            </a:pPr>
            <a:r>
              <a:t>February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20040"/>
            <a:ext cx="11277295" cy="731520"/>
          </a:xfrm>
          <a:prstGeom prst="rect">
            <a:avLst/>
          </a:prstGeom>
          <a:noFill/>
        </p:spPr>
        <p:txBody>
          <a:bodyPr wrap="square">
            <a:spAutoFit/>
          </a:bodyPr>
          <a:lstStyle/>
          <a:p>
            <a:pPr algn="ctr">
              <a:defRPr sz="3600" b="1">
                <a:solidFill>
                  <a:srgbClr val="FFFFFF"/>
                </a:solidFill>
                <a:latin typeface="Calibri"/>
              </a:defRPr>
            </a:pPr>
            <a:r>
              <a:t>Project Overview</a:t>
            </a:r>
          </a:p>
        </p:txBody>
      </p:sp>
      <p:sp>
        <p:nvSpPr>
          <p:cNvPr id="5" name="TextBox 4"/>
          <p:cNvSpPr txBox="1"/>
          <p:nvPr/>
        </p:nvSpPr>
        <p:spPr>
          <a:xfrm>
            <a:off x="457200" y="1371600"/>
            <a:ext cx="5029200" cy="457200"/>
          </a:xfrm>
          <a:prstGeom prst="rect">
            <a:avLst/>
          </a:prstGeom>
          <a:noFill/>
        </p:spPr>
        <p:txBody>
          <a:bodyPr wrap="square">
            <a:spAutoFit/>
          </a:bodyPr>
          <a:lstStyle/>
          <a:p>
            <a:pPr algn="l">
              <a:defRPr sz="2000" b="1">
                <a:solidFill>
                  <a:srgbClr val="1E3A5F"/>
                </a:solidFill>
                <a:latin typeface="Calibri"/>
              </a:defRPr>
            </a:pPr>
            <a:r>
              <a:t>What is DES?</a:t>
            </a:r>
          </a:p>
        </p:txBody>
      </p:sp>
      <p:sp>
        <p:nvSpPr>
          <p:cNvPr id="6" name="TextBox 5"/>
          <p:cNvSpPr txBox="1"/>
          <p:nvPr/>
        </p:nvSpPr>
        <p:spPr>
          <a:xfrm>
            <a:off x="457200" y="1920240"/>
            <a:ext cx="5029200" cy="2286000"/>
          </a:xfrm>
          <a:prstGeom prst="rect">
            <a:avLst/>
          </a:prstGeom>
          <a:noFill/>
        </p:spPr>
        <p:txBody>
          <a:bodyPr wrap="square">
            <a:spAutoFit/>
          </a:bodyPr>
          <a:lstStyle/>
          <a:p>
            <a:pPr>
              <a:spcAft>
                <a:spcPts val="600"/>
              </a:spcAft>
              <a:defRPr sz="1400">
                <a:solidFill>
                  <a:srgbClr val="1E293B"/>
                </a:solidFill>
                <a:latin typeface="Calibri"/>
              </a:defRPr>
            </a:pPr>
            <a:r>
              <a:t>• Data Encryption Standard (FIPS 46-3)</a:t>
            </a:r>
          </a:p>
          <a:p>
            <a:pPr>
              <a:spcAft>
                <a:spcPts val="600"/>
              </a:spcAft>
              <a:defRPr sz="1400">
                <a:solidFill>
                  <a:srgbClr val="1E293B"/>
                </a:solidFill>
                <a:latin typeface="Calibri"/>
              </a:defRPr>
            </a:pPr>
            <a:r>
              <a:t>• Symmetric-key block cipher</a:t>
            </a:r>
          </a:p>
          <a:p>
            <a:pPr>
              <a:spcAft>
                <a:spcPts val="600"/>
              </a:spcAft>
              <a:defRPr sz="1400">
                <a:solidFill>
                  <a:srgbClr val="1E293B"/>
                </a:solidFill>
                <a:latin typeface="Calibri"/>
              </a:defRPr>
            </a:pPr>
            <a:r>
              <a:t>• 64-bit data blocks</a:t>
            </a:r>
          </a:p>
          <a:p>
            <a:pPr>
              <a:spcAft>
                <a:spcPts val="600"/>
              </a:spcAft>
              <a:defRPr sz="1400">
                <a:solidFill>
                  <a:srgbClr val="1E293B"/>
                </a:solidFill>
                <a:latin typeface="Calibri"/>
              </a:defRPr>
            </a:pPr>
            <a:r>
              <a:t>• 56-bit effective key (64-bit with parity)</a:t>
            </a:r>
          </a:p>
          <a:p>
            <a:pPr>
              <a:spcAft>
                <a:spcPts val="600"/>
              </a:spcAft>
              <a:defRPr sz="1400">
                <a:solidFill>
                  <a:srgbClr val="1E293B"/>
                </a:solidFill>
                <a:latin typeface="Calibri"/>
              </a:defRPr>
            </a:pPr>
            <a:r>
              <a:t>• 16-round Feistel network structure</a:t>
            </a:r>
          </a:p>
        </p:txBody>
      </p:sp>
      <p:sp>
        <p:nvSpPr>
          <p:cNvPr id="7" name="TextBox 6"/>
          <p:cNvSpPr txBox="1"/>
          <p:nvPr/>
        </p:nvSpPr>
        <p:spPr>
          <a:xfrm>
            <a:off x="6400800" y="1371600"/>
            <a:ext cx="5029200" cy="457200"/>
          </a:xfrm>
          <a:prstGeom prst="rect">
            <a:avLst/>
          </a:prstGeom>
          <a:noFill/>
        </p:spPr>
        <p:txBody>
          <a:bodyPr wrap="square">
            <a:spAutoFit/>
          </a:bodyPr>
          <a:lstStyle/>
          <a:p>
            <a:pPr algn="l">
              <a:defRPr sz="2000" b="1">
                <a:solidFill>
                  <a:srgbClr val="1E3A5F"/>
                </a:solidFill>
                <a:latin typeface="Calibri"/>
              </a:defRPr>
            </a:pPr>
            <a:r>
              <a:t>Project Goals</a:t>
            </a:r>
          </a:p>
        </p:txBody>
      </p:sp>
      <p:sp>
        <p:nvSpPr>
          <p:cNvPr id="8" name="TextBox 7"/>
          <p:cNvSpPr txBox="1"/>
          <p:nvPr/>
        </p:nvSpPr>
        <p:spPr>
          <a:xfrm>
            <a:off x="6400800" y="1920240"/>
            <a:ext cx="5029200" cy="2286000"/>
          </a:xfrm>
          <a:prstGeom prst="rect">
            <a:avLst/>
          </a:prstGeom>
          <a:noFill/>
        </p:spPr>
        <p:txBody>
          <a:bodyPr wrap="square">
            <a:spAutoFit/>
          </a:bodyPr>
          <a:lstStyle/>
          <a:p>
            <a:pPr>
              <a:spcAft>
                <a:spcPts val="600"/>
              </a:spcAft>
              <a:defRPr sz="1400">
                <a:solidFill>
                  <a:srgbClr val="1E293B"/>
                </a:solidFill>
                <a:latin typeface="Calibri"/>
              </a:defRPr>
            </a:pPr>
            <a:r>
              <a:rPr dirty="0"/>
              <a:t>• Implement DES encryption in C++</a:t>
            </a:r>
          </a:p>
          <a:p>
            <a:pPr>
              <a:spcAft>
                <a:spcPts val="600"/>
              </a:spcAft>
              <a:defRPr sz="1400">
                <a:solidFill>
                  <a:srgbClr val="1E293B"/>
                </a:solidFill>
                <a:latin typeface="Calibri"/>
              </a:defRPr>
            </a:pPr>
            <a:r>
              <a:rPr dirty="0"/>
              <a:t>• Synthesize to FPGA hardware using HLS</a:t>
            </a:r>
          </a:p>
          <a:p>
            <a:pPr>
              <a:spcAft>
                <a:spcPts val="600"/>
              </a:spcAft>
              <a:defRPr sz="1400">
                <a:solidFill>
                  <a:srgbClr val="1E293B"/>
                </a:solidFill>
                <a:latin typeface="Calibri"/>
              </a:defRPr>
            </a:pPr>
            <a:r>
              <a:rPr dirty="0"/>
              <a:t>• Target Artix-7 FPGA (xc7a100t)</a:t>
            </a:r>
          </a:p>
          <a:p>
            <a:pPr>
              <a:spcAft>
                <a:spcPts val="600"/>
              </a:spcAft>
              <a:defRPr sz="1400">
                <a:solidFill>
                  <a:srgbClr val="1E293B"/>
                </a:solidFill>
                <a:latin typeface="Calibri"/>
              </a:defRPr>
            </a:pPr>
            <a:r>
              <a:rPr dirty="0"/>
              <a:t>• Verify functional correctness</a:t>
            </a:r>
          </a:p>
          <a:p>
            <a:pPr>
              <a:spcAft>
                <a:spcPts val="600"/>
              </a:spcAft>
              <a:defRPr sz="1400">
                <a:solidFill>
                  <a:srgbClr val="1E293B"/>
                </a:solidFill>
                <a:latin typeface="Calibri"/>
              </a:defRPr>
            </a:pPr>
            <a:r>
              <a:rPr dirty="0"/>
              <a:t>• Analyze hardware resource usage</a:t>
            </a:r>
          </a:p>
        </p:txBody>
      </p:sp>
      <p:sp>
        <p:nvSpPr>
          <p:cNvPr id="9" name="TextBox 8"/>
          <p:cNvSpPr txBox="1"/>
          <p:nvPr/>
        </p:nvSpPr>
        <p:spPr>
          <a:xfrm>
            <a:off x="457200" y="4389120"/>
            <a:ext cx="11277295" cy="457200"/>
          </a:xfrm>
          <a:prstGeom prst="rect">
            <a:avLst/>
          </a:prstGeom>
          <a:noFill/>
        </p:spPr>
        <p:txBody>
          <a:bodyPr wrap="square">
            <a:spAutoFit/>
          </a:bodyPr>
          <a:lstStyle/>
          <a:p>
            <a:pPr algn="l">
              <a:defRPr sz="1800" b="1">
                <a:solidFill>
                  <a:srgbClr val="1E3A5F"/>
                </a:solidFill>
                <a:latin typeface="Calibri"/>
              </a:defRPr>
            </a:pPr>
            <a:r>
              <a:t>Technology Stack</a:t>
            </a:r>
          </a:p>
        </p:txBody>
      </p:sp>
      <p:sp>
        <p:nvSpPr>
          <p:cNvPr id="10" name="Rounded Rectangle 9"/>
          <p:cNvSpPr/>
          <p:nvPr/>
        </p:nvSpPr>
        <p:spPr>
          <a:xfrm>
            <a:off x="457200" y="4846320"/>
            <a:ext cx="2651760" cy="914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4937760"/>
            <a:ext cx="2468880" cy="365760"/>
          </a:xfrm>
          <a:prstGeom prst="rect">
            <a:avLst/>
          </a:prstGeom>
          <a:noFill/>
        </p:spPr>
        <p:txBody>
          <a:bodyPr wrap="square">
            <a:spAutoFit/>
          </a:bodyPr>
          <a:lstStyle/>
          <a:p>
            <a:pPr algn="ctr">
              <a:defRPr sz="1400" b="1">
                <a:solidFill>
                  <a:srgbClr val="1E3A5F"/>
                </a:solidFill>
                <a:latin typeface="Calibri"/>
              </a:defRPr>
            </a:pPr>
            <a:r>
              <a:t>Vitis HLS 2025.2</a:t>
            </a:r>
          </a:p>
        </p:txBody>
      </p:sp>
      <p:sp>
        <p:nvSpPr>
          <p:cNvPr id="12" name="TextBox 11"/>
          <p:cNvSpPr txBox="1"/>
          <p:nvPr/>
        </p:nvSpPr>
        <p:spPr>
          <a:xfrm>
            <a:off x="548640" y="5257800"/>
            <a:ext cx="2468880" cy="365760"/>
          </a:xfrm>
          <a:prstGeom prst="rect">
            <a:avLst/>
          </a:prstGeom>
          <a:noFill/>
        </p:spPr>
        <p:txBody>
          <a:bodyPr wrap="square">
            <a:spAutoFit/>
          </a:bodyPr>
          <a:lstStyle/>
          <a:p>
            <a:pPr algn="ctr">
              <a:defRPr sz="1100" b="0">
                <a:solidFill>
                  <a:srgbClr val="64748B"/>
                </a:solidFill>
                <a:latin typeface="Calibri"/>
              </a:defRPr>
            </a:pPr>
            <a:r>
              <a:t>High-Level Synthesis</a:t>
            </a:r>
          </a:p>
        </p:txBody>
      </p:sp>
      <p:sp>
        <p:nvSpPr>
          <p:cNvPr id="13" name="Rounded Rectangle 12"/>
          <p:cNvSpPr/>
          <p:nvPr/>
        </p:nvSpPr>
        <p:spPr>
          <a:xfrm>
            <a:off x="3291840" y="4846320"/>
            <a:ext cx="2651760" cy="914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83280" y="4937760"/>
            <a:ext cx="2468880" cy="307777"/>
          </a:xfrm>
          <a:prstGeom prst="rect">
            <a:avLst/>
          </a:prstGeom>
          <a:noFill/>
        </p:spPr>
        <p:txBody>
          <a:bodyPr wrap="square">
            <a:spAutoFit/>
          </a:bodyPr>
          <a:lstStyle/>
          <a:p>
            <a:pPr algn="ctr">
              <a:defRPr sz="1400" b="1">
                <a:solidFill>
                  <a:srgbClr val="1E3A5F"/>
                </a:solidFill>
                <a:latin typeface="Calibri"/>
              </a:defRPr>
            </a:pPr>
            <a:r>
              <a:rPr dirty="0"/>
              <a:t>C++ </a:t>
            </a:r>
          </a:p>
        </p:txBody>
      </p:sp>
      <p:sp>
        <p:nvSpPr>
          <p:cNvPr id="15" name="TextBox 14"/>
          <p:cNvSpPr txBox="1"/>
          <p:nvPr/>
        </p:nvSpPr>
        <p:spPr>
          <a:xfrm>
            <a:off x="3383280" y="5257800"/>
            <a:ext cx="2468880" cy="365760"/>
          </a:xfrm>
          <a:prstGeom prst="rect">
            <a:avLst/>
          </a:prstGeom>
          <a:noFill/>
        </p:spPr>
        <p:txBody>
          <a:bodyPr wrap="square">
            <a:spAutoFit/>
          </a:bodyPr>
          <a:lstStyle/>
          <a:p>
            <a:pPr algn="ctr">
              <a:defRPr sz="1100" b="0">
                <a:solidFill>
                  <a:srgbClr val="64748B"/>
                </a:solidFill>
                <a:latin typeface="Calibri"/>
              </a:defRPr>
            </a:pPr>
            <a:r>
              <a:t>Implementation</a:t>
            </a:r>
          </a:p>
        </p:txBody>
      </p:sp>
      <p:sp>
        <p:nvSpPr>
          <p:cNvPr id="16" name="Rounded Rectangle 15"/>
          <p:cNvSpPr/>
          <p:nvPr/>
        </p:nvSpPr>
        <p:spPr>
          <a:xfrm>
            <a:off x="6126480" y="4846320"/>
            <a:ext cx="2651760" cy="914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17920" y="4937760"/>
            <a:ext cx="2468880" cy="365760"/>
          </a:xfrm>
          <a:prstGeom prst="rect">
            <a:avLst/>
          </a:prstGeom>
          <a:noFill/>
        </p:spPr>
        <p:txBody>
          <a:bodyPr wrap="square">
            <a:spAutoFit/>
          </a:bodyPr>
          <a:lstStyle/>
          <a:p>
            <a:pPr algn="ctr">
              <a:defRPr sz="1400" b="1">
                <a:solidFill>
                  <a:srgbClr val="1E3A5F"/>
                </a:solidFill>
                <a:latin typeface="Calibri"/>
              </a:defRPr>
            </a:pPr>
            <a:r>
              <a:t>Artix-7 FPGA</a:t>
            </a:r>
          </a:p>
        </p:txBody>
      </p:sp>
      <p:sp>
        <p:nvSpPr>
          <p:cNvPr id="18" name="TextBox 17"/>
          <p:cNvSpPr txBox="1"/>
          <p:nvPr/>
        </p:nvSpPr>
        <p:spPr>
          <a:xfrm>
            <a:off x="6217920" y="5257800"/>
            <a:ext cx="2468880" cy="365760"/>
          </a:xfrm>
          <a:prstGeom prst="rect">
            <a:avLst/>
          </a:prstGeom>
          <a:noFill/>
        </p:spPr>
        <p:txBody>
          <a:bodyPr wrap="square">
            <a:spAutoFit/>
          </a:bodyPr>
          <a:lstStyle/>
          <a:p>
            <a:pPr algn="ctr">
              <a:defRPr sz="1100" b="0">
                <a:solidFill>
                  <a:srgbClr val="64748B"/>
                </a:solidFill>
                <a:latin typeface="Calibri"/>
              </a:defRPr>
            </a:pPr>
            <a:r>
              <a:t>Target Device</a:t>
            </a:r>
          </a:p>
        </p:txBody>
      </p:sp>
      <p:sp>
        <p:nvSpPr>
          <p:cNvPr id="19" name="Rounded Rectangle 18"/>
          <p:cNvSpPr/>
          <p:nvPr/>
        </p:nvSpPr>
        <p:spPr>
          <a:xfrm>
            <a:off x="8961120" y="4846320"/>
            <a:ext cx="2651760" cy="914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052560" y="4937760"/>
            <a:ext cx="2468880" cy="365760"/>
          </a:xfrm>
          <a:prstGeom prst="rect">
            <a:avLst/>
          </a:prstGeom>
          <a:noFill/>
        </p:spPr>
        <p:txBody>
          <a:bodyPr wrap="square">
            <a:spAutoFit/>
          </a:bodyPr>
          <a:lstStyle/>
          <a:p>
            <a:pPr algn="ctr">
              <a:defRPr sz="1400" b="1">
                <a:solidFill>
                  <a:srgbClr val="1E3A5F"/>
                </a:solidFill>
                <a:latin typeface="Calibri"/>
              </a:defRPr>
            </a:pPr>
            <a:r>
              <a:t>Verilog/VHDL</a:t>
            </a:r>
          </a:p>
        </p:txBody>
      </p:sp>
      <p:sp>
        <p:nvSpPr>
          <p:cNvPr id="21" name="TextBox 20"/>
          <p:cNvSpPr txBox="1"/>
          <p:nvPr/>
        </p:nvSpPr>
        <p:spPr>
          <a:xfrm>
            <a:off x="9052560" y="5257800"/>
            <a:ext cx="2468880" cy="365760"/>
          </a:xfrm>
          <a:prstGeom prst="rect">
            <a:avLst/>
          </a:prstGeom>
          <a:noFill/>
        </p:spPr>
        <p:txBody>
          <a:bodyPr wrap="square">
            <a:spAutoFit/>
          </a:bodyPr>
          <a:lstStyle/>
          <a:p>
            <a:pPr algn="ctr">
              <a:defRPr sz="1100" b="0">
                <a:solidFill>
                  <a:srgbClr val="64748B"/>
                </a:solidFill>
                <a:latin typeface="Calibri"/>
              </a:defRPr>
            </a:pPr>
            <a:r>
              <a:t>RTL Output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20040"/>
            <a:ext cx="11277295" cy="731520"/>
          </a:xfrm>
          <a:prstGeom prst="rect">
            <a:avLst/>
          </a:prstGeom>
          <a:noFill/>
        </p:spPr>
        <p:txBody>
          <a:bodyPr wrap="square">
            <a:spAutoFit/>
          </a:bodyPr>
          <a:lstStyle/>
          <a:p>
            <a:pPr algn="ctr">
              <a:defRPr sz="3600" b="1">
                <a:solidFill>
                  <a:srgbClr val="FFFFFF"/>
                </a:solidFill>
                <a:latin typeface="Calibri"/>
              </a:defRPr>
            </a:pPr>
            <a:r>
              <a:t>DES Algorithm Structure</a:t>
            </a:r>
          </a:p>
        </p:txBody>
      </p:sp>
      <p:sp>
        <p:nvSpPr>
          <p:cNvPr id="5" name="TextBox 4"/>
          <p:cNvSpPr txBox="1"/>
          <p:nvPr/>
        </p:nvSpPr>
        <p:spPr>
          <a:xfrm>
            <a:off x="457200" y="1371600"/>
            <a:ext cx="3657600" cy="457200"/>
          </a:xfrm>
          <a:prstGeom prst="rect">
            <a:avLst/>
          </a:prstGeom>
          <a:noFill/>
        </p:spPr>
        <p:txBody>
          <a:bodyPr wrap="square">
            <a:spAutoFit/>
          </a:bodyPr>
          <a:lstStyle/>
          <a:p>
            <a:pPr algn="l">
              <a:defRPr sz="1800" b="1">
                <a:solidFill>
                  <a:srgbClr val="1E3A5F"/>
                </a:solidFill>
                <a:latin typeface="Calibri"/>
              </a:defRPr>
            </a:pPr>
            <a:r>
              <a:t>Encryption Flow</a:t>
            </a:r>
          </a:p>
        </p:txBody>
      </p:sp>
      <p:sp>
        <p:nvSpPr>
          <p:cNvPr id="6" name="TextBox 5"/>
          <p:cNvSpPr txBox="1"/>
          <p:nvPr/>
        </p:nvSpPr>
        <p:spPr>
          <a:xfrm>
            <a:off x="457200" y="1828800"/>
            <a:ext cx="4572000" cy="1477328"/>
          </a:xfrm>
          <a:prstGeom prst="rect">
            <a:avLst/>
          </a:prstGeom>
          <a:noFill/>
        </p:spPr>
        <p:txBody>
          <a:bodyPr wrap="square">
            <a:spAutoFit/>
          </a:bodyPr>
          <a:lstStyle/>
          <a:p>
            <a:pPr>
              <a:spcAft>
                <a:spcPts val="600"/>
              </a:spcAft>
              <a:defRPr sz="1400">
                <a:solidFill>
                  <a:srgbClr val="1E293B"/>
                </a:solidFill>
                <a:latin typeface="Calibri"/>
              </a:defRPr>
            </a:pPr>
            <a:r>
              <a:rPr dirty="0"/>
              <a:t>1. Initial Permutation (IP)</a:t>
            </a:r>
          </a:p>
          <a:p>
            <a:pPr>
              <a:spcAft>
                <a:spcPts val="600"/>
              </a:spcAft>
              <a:defRPr sz="1400">
                <a:solidFill>
                  <a:srgbClr val="1E293B"/>
                </a:solidFill>
                <a:latin typeface="Calibri"/>
              </a:defRPr>
            </a:pPr>
            <a:r>
              <a:rPr dirty="0"/>
              <a:t>2. Split into L0 and R0 (32-bit each)</a:t>
            </a:r>
          </a:p>
          <a:p>
            <a:pPr>
              <a:spcAft>
                <a:spcPts val="600"/>
              </a:spcAft>
              <a:defRPr sz="1400">
                <a:solidFill>
                  <a:srgbClr val="1E293B"/>
                </a:solidFill>
                <a:latin typeface="Calibri"/>
              </a:defRPr>
            </a:pPr>
            <a:r>
              <a:rPr dirty="0"/>
              <a:t>3. 16 Feistel Rounds</a:t>
            </a:r>
          </a:p>
          <a:p>
            <a:pPr>
              <a:spcAft>
                <a:spcPts val="600"/>
              </a:spcAft>
              <a:defRPr sz="1400">
                <a:solidFill>
                  <a:srgbClr val="1E293B"/>
                </a:solidFill>
                <a:latin typeface="Calibri"/>
              </a:defRPr>
            </a:pPr>
            <a:r>
              <a:rPr dirty="0"/>
              <a:t>4. Final Permutation (FP)</a:t>
            </a:r>
          </a:p>
          <a:p>
            <a:pPr>
              <a:spcAft>
                <a:spcPts val="600"/>
              </a:spcAft>
              <a:defRPr sz="1400">
                <a:solidFill>
                  <a:srgbClr val="1E293B"/>
                </a:solidFill>
                <a:latin typeface="Calibri"/>
              </a:defRPr>
            </a:pPr>
            <a:r>
              <a:rPr dirty="0"/>
              <a:t>5. Output 64-bit ciphertext</a:t>
            </a:r>
          </a:p>
        </p:txBody>
      </p:sp>
      <p:sp>
        <p:nvSpPr>
          <p:cNvPr id="7" name="TextBox 6"/>
          <p:cNvSpPr txBox="1"/>
          <p:nvPr/>
        </p:nvSpPr>
        <p:spPr>
          <a:xfrm>
            <a:off x="457200" y="3931920"/>
            <a:ext cx="3657600" cy="457200"/>
          </a:xfrm>
          <a:prstGeom prst="rect">
            <a:avLst/>
          </a:prstGeom>
          <a:noFill/>
        </p:spPr>
        <p:txBody>
          <a:bodyPr wrap="square">
            <a:spAutoFit/>
          </a:bodyPr>
          <a:lstStyle/>
          <a:p>
            <a:pPr algn="l">
              <a:defRPr sz="1800" b="1">
                <a:solidFill>
                  <a:srgbClr val="1E3A5F"/>
                </a:solidFill>
                <a:latin typeface="Calibri"/>
              </a:defRPr>
            </a:pPr>
            <a:r>
              <a:t>Feistel Function f(R, K)</a:t>
            </a:r>
          </a:p>
        </p:txBody>
      </p:sp>
      <p:sp>
        <p:nvSpPr>
          <p:cNvPr id="8" name="TextBox 7"/>
          <p:cNvSpPr txBox="1"/>
          <p:nvPr/>
        </p:nvSpPr>
        <p:spPr>
          <a:xfrm>
            <a:off x="457200" y="4389120"/>
            <a:ext cx="4572000" cy="1828800"/>
          </a:xfrm>
          <a:prstGeom prst="rect">
            <a:avLst/>
          </a:prstGeom>
          <a:noFill/>
        </p:spPr>
        <p:txBody>
          <a:bodyPr wrap="square">
            <a:spAutoFit/>
          </a:bodyPr>
          <a:lstStyle/>
          <a:p>
            <a:pPr>
              <a:spcAft>
                <a:spcPts val="600"/>
              </a:spcAft>
              <a:defRPr sz="1400">
                <a:solidFill>
                  <a:srgbClr val="1E293B"/>
                </a:solidFill>
                <a:latin typeface="Calibri"/>
              </a:defRPr>
            </a:pPr>
            <a:r>
              <a:t>• Expansion (32 to 48 bits)</a:t>
            </a:r>
          </a:p>
          <a:p>
            <a:pPr>
              <a:spcAft>
                <a:spcPts val="600"/>
              </a:spcAft>
              <a:defRPr sz="1400">
                <a:solidFill>
                  <a:srgbClr val="1E293B"/>
                </a:solidFill>
                <a:latin typeface="Calibri"/>
              </a:defRPr>
            </a:pPr>
            <a:r>
              <a:t>• XOR with 48-bit subkey</a:t>
            </a:r>
          </a:p>
          <a:p>
            <a:pPr>
              <a:spcAft>
                <a:spcPts val="600"/>
              </a:spcAft>
              <a:defRPr sz="1400">
                <a:solidFill>
                  <a:srgbClr val="1E293B"/>
                </a:solidFill>
                <a:latin typeface="Calibri"/>
              </a:defRPr>
            </a:pPr>
            <a:r>
              <a:t>• S-box substitution (48 to 32 bits)</a:t>
            </a:r>
          </a:p>
          <a:p>
            <a:pPr>
              <a:spcAft>
                <a:spcPts val="600"/>
              </a:spcAft>
              <a:defRPr sz="1400">
                <a:solidFill>
                  <a:srgbClr val="1E293B"/>
                </a:solidFill>
                <a:latin typeface="Calibri"/>
              </a:defRPr>
            </a:pPr>
            <a:r>
              <a:t>• P-box permutation</a:t>
            </a:r>
          </a:p>
        </p:txBody>
      </p:sp>
      <p:sp>
        <p:nvSpPr>
          <p:cNvPr id="9" name="TextBox 8"/>
          <p:cNvSpPr txBox="1"/>
          <p:nvPr/>
        </p:nvSpPr>
        <p:spPr>
          <a:xfrm>
            <a:off x="6400800" y="1371600"/>
            <a:ext cx="5029200" cy="457200"/>
          </a:xfrm>
          <a:prstGeom prst="rect">
            <a:avLst/>
          </a:prstGeom>
          <a:noFill/>
        </p:spPr>
        <p:txBody>
          <a:bodyPr wrap="square">
            <a:spAutoFit/>
          </a:bodyPr>
          <a:lstStyle/>
          <a:p>
            <a:pPr algn="l">
              <a:defRPr sz="1800" b="1">
                <a:solidFill>
                  <a:srgbClr val="1E3A5F"/>
                </a:solidFill>
                <a:latin typeface="Calibri"/>
              </a:defRPr>
            </a:pPr>
            <a:r>
              <a:t>Key Components</a:t>
            </a:r>
          </a:p>
        </p:txBody>
      </p:sp>
      <p:sp>
        <p:nvSpPr>
          <p:cNvPr id="10" name="Rectangle 9"/>
          <p:cNvSpPr/>
          <p:nvPr/>
        </p:nvSpPr>
        <p:spPr>
          <a:xfrm>
            <a:off x="5943600" y="1828800"/>
            <a:ext cx="5486400" cy="128016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0" y="1828800"/>
            <a:ext cx="73152" cy="12801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26480" y="1965960"/>
            <a:ext cx="5029200" cy="365760"/>
          </a:xfrm>
          <a:prstGeom prst="rect">
            <a:avLst/>
          </a:prstGeom>
          <a:noFill/>
        </p:spPr>
        <p:txBody>
          <a:bodyPr wrap="square">
            <a:spAutoFit/>
          </a:bodyPr>
          <a:lstStyle/>
          <a:p>
            <a:pPr algn="l">
              <a:defRPr sz="1600" b="1">
                <a:solidFill>
                  <a:srgbClr val="1E3A5F"/>
                </a:solidFill>
                <a:latin typeface="Calibri"/>
              </a:defRPr>
            </a:pPr>
            <a:r>
              <a:t>8 S-Boxes</a:t>
            </a:r>
          </a:p>
        </p:txBody>
      </p:sp>
      <p:sp>
        <p:nvSpPr>
          <p:cNvPr id="13" name="TextBox 12"/>
          <p:cNvSpPr txBox="1"/>
          <p:nvPr/>
        </p:nvSpPr>
        <p:spPr>
          <a:xfrm>
            <a:off x="6126480" y="2331720"/>
            <a:ext cx="5029200" cy="731520"/>
          </a:xfrm>
          <a:prstGeom prst="rect">
            <a:avLst/>
          </a:prstGeom>
          <a:noFill/>
        </p:spPr>
        <p:txBody>
          <a:bodyPr wrap="square">
            <a:spAutoFit/>
          </a:bodyPr>
          <a:lstStyle/>
          <a:p>
            <a:pPr algn="l">
              <a:defRPr sz="1200" b="0">
                <a:solidFill>
                  <a:srgbClr val="64748B"/>
                </a:solidFill>
                <a:latin typeface="Calibri"/>
              </a:defRPr>
            </a:pPr>
            <a:r>
              <a:t>6-bit input, 4-bit output, Nonlinear substitution</a:t>
            </a:r>
          </a:p>
        </p:txBody>
      </p:sp>
      <p:sp>
        <p:nvSpPr>
          <p:cNvPr id="14" name="Rectangle 13"/>
          <p:cNvSpPr/>
          <p:nvPr/>
        </p:nvSpPr>
        <p:spPr>
          <a:xfrm>
            <a:off x="5943600" y="3291840"/>
            <a:ext cx="5486400" cy="128016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943600" y="3291840"/>
            <a:ext cx="73152" cy="12801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26480" y="3429000"/>
            <a:ext cx="5029200" cy="365760"/>
          </a:xfrm>
          <a:prstGeom prst="rect">
            <a:avLst/>
          </a:prstGeom>
          <a:noFill/>
        </p:spPr>
        <p:txBody>
          <a:bodyPr wrap="square">
            <a:spAutoFit/>
          </a:bodyPr>
          <a:lstStyle/>
          <a:p>
            <a:pPr algn="l">
              <a:defRPr sz="1600" b="1">
                <a:solidFill>
                  <a:srgbClr val="1E3A5F"/>
                </a:solidFill>
                <a:latin typeface="Calibri"/>
              </a:defRPr>
            </a:pPr>
            <a:r>
              <a:t>Key Schedule</a:t>
            </a:r>
          </a:p>
        </p:txBody>
      </p:sp>
      <p:sp>
        <p:nvSpPr>
          <p:cNvPr id="17" name="TextBox 16"/>
          <p:cNvSpPr txBox="1"/>
          <p:nvPr/>
        </p:nvSpPr>
        <p:spPr>
          <a:xfrm>
            <a:off x="6126480" y="3794760"/>
            <a:ext cx="5029200" cy="731520"/>
          </a:xfrm>
          <a:prstGeom prst="rect">
            <a:avLst/>
          </a:prstGeom>
          <a:noFill/>
        </p:spPr>
        <p:txBody>
          <a:bodyPr wrap="square">
            <a:spAutoFit/>
          </a:bodyPr>
          <a:lstStyle/>
          <a:p>
            <a:pPr algn="l">
              <a:defRPr sz="1200" b="0">
                <a:solidFill>
                  <a:srgbClr val="64748B"/>
                </a:solidFill>
                <a:latin typeface="Calibri"/>
              </a:defRPr>
            </a:pPr>
            <a:r>
              <a:t>64-bit key to 16 subkeys, 48-bit each round</a:t>
            </a:r>
          </a:p>
        </p:txBody>
      </p:sp>
      <p:sp>
        <p:nvSpPr>
          <p:cNvPr id="18" name="Rectangle 17"/>
          <p:cNvSpPr/>
          <p:nvPr/>
        </p:nvSpPr>
        <p:spPr>
          <a:xfrm>
            <a:off x="5943600" y="4754880"/>
            <a:ext cx="5486400" cy="128016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943600" y="4754880"/>
            <a:ext cx="73152" cy="12801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26480" y="4892040"/>
            <a:ext cx="5029200" cy="365760"/>
          </a:xfrm>
          <a:prstGeom prst="rect">
            <a:avLst/>
          </a:prstGeom>
          <a:noFill/>
        </p:spPr>
        <p:txBody>
          <a:bodyPr wrap="square">
            <a:spAutoFit/>
          </a:bodyPr>
          <a:lstStyle/>
          <a:p>
            <a:pPr algn="l">
              <a:defRPr sz="1600" b="1">
                <a:solidFill>
                  <a:srgbClr val="1E3A5F"/>
                </a:solidFill>
                <a:latin typeface="Calibri"/>
              </a:defRPr>
            </a:pPr>
            <a:r>
              <a:t>Permutations</a:t>
            </a:r>
          </a:p>
        </p:txBody>
      </p:sp>
      <p:sp>
        <p:nvSpPr>
          <p:cNvPr id="21" name="TextBox 20"/>
          <p:cNvSpPr txBox="1"/>
          <p:nvPr/>
        </p:nvSpPr>
        <p:spPr>
          <a:xfrm>
            <a:off x="6126480" y="5257800"/>
            <a:ext cx="5029200" cy="731520"/>
          </a:xfrm>
          <a:prstGeom prst="rect">
            <a:avLst/>
          </a:prstGeom>
          <a:noFill/>
        </p:spPr>
        <p:txBody>
          <a:bodyPr wrap="square">
            <a:spAutoFit/>
          </a:bodyPr>
          <a:lstStyle/>
          <a:p>
            <a:pPr algn="l">
              <a:defRPr sz="1200" b="0">
                <a:solidFill>
                  <a:srgbClr val="64748B"/>
                </a:solidFill>
                <a:latin typeface="Calibri"/>
              </a:defRPr>
            </a:pPr>
            <a:r>
              <a:t>IP, FP, E, P tables, Bit rearrangement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20040"/>
            <a:ext cx="11277295" cy="731520"/>
          </a:xfrm>
          <a:prstGeom prst="rect">
            <a:avLst/>
          </a:prstGeom>
          <a:noFill/>
        </p:spPr>
        <p:txBody>
          <a:bodyPr wrap="square">
            <a:spAutoFit/>
          </a:bodyPr>
          <a:lstStyle/>
          <a:p>
            <a:pPr algn="ctr">
              <a:defRPr sz="3600" b="1">
                <a:solidFill>
                  <a:srgbClr val="FFFFFF"/>
                </a:solidFill>
                <a:latin typeface="Calibri"/>
              </a:defRPr>
            </a:pPr>
            <a:r>
              <a:t>HLS Implementation Highlights</a:t>
            </a:r>
          </a:p>
        </p:txBody>
      </p:sp>
      <p:sp>
        <p:nvSpPr>
          <p:cNvPr id="5" name="TextBox 4"/>
          <p:cNvSpPr txBox="1"/>
          <p:nvPr/>
        </p:nvSpPr>
        <p:spPr>
          <a:xfrm>
            <a:off x="457200" y="1371600"/>
            <a:ext cx="5029200" cy="457200"/>
          </a:xfrm>
          <a:prstGeom prst="rect">
            <a:avLst/>
          </a:prstGeom>
          <a:noFill/>
        </p:spPr>
        <p:txBody>
          <a:bodyPr wrap="square">
            <a:spAutoFit/>
          </a:bodyPr>
          <a:lstStyle/>
          <a:p>
            <a:pPr algn="l">
              <a:defRPr sz="1800" b="1">
                <a:solidFill>
                  <a:srgbClr val="1E3A5F"/>
                </a:solidFill>
                <a:latin typeface="Calibri"/>
              </a:defRPr>
            </a:pPr>
            <a:r>
              <a:t>Key HLS Pragmas Used</a:t>
            </a:r>
          </a:p>
        </p:txBody>
      </p:sp>
      <p:sp>
        <p:nvSpPr>
          <p:cNvPr id="6" name="TextBox 5"/>
          <p:cNvSpPr txBox="1"/>
          <p:nvPr/>
        </p:nvSpPr>
        <p:spPr>
          <a:xfrm>
            <a:off x="457200" y="1828800"/>
            <a:ext cx="5486400" cy="2286000"/>
          </a:xfrm>
          <a:prstGeom prst="rect">
            <a:avLst/>
          </a:prstGeom>
          <a:noFill/>
        </p:spPr>
        <p:txBody>
          <a:bodyPr wrap="square">
            <a:spAutoFit/>
          </a:bodyPr>
          <a:lstStyle/>
          <a:p>
            <a:pPr>
              <a:spcAft>
                <a:spcPts val="600"/>
              </a:spcAft>
              <a:defRPr sz="1400">
                <a:solidFill>
                  <a:srgbClr val="1E293B"/>
                </a:solidFill>
                <a:latin typeface="Calibri"/>
              </a:defRPr>
            </a:pPr>
            <a:r>
              <a:t>• #pragma HLS UNROLL - Full loop unrolling</a:t>
            </a:r>
          </a:p>
          <a:p>
            <a:pPr>
              <a:spcAft>
                <a:spcPts val="600"/>
              </a:spcAft>
              <a:defRPr sz="1400">
                <a:solidFill>
                  <a:srgbClr val="1E293B"/>
                </a:solidFill>
                <a:latin typeface="Calibri"/>
              </a:defRPr>
            </a:pPr>
            <a:r>
              <a:t>• #pragma HLS INLINE - Function merging</a:t>
            </a:r>
          </a:p>
          <a:p>
            <a:pPr>
              <a:spcAft>
                <a:spcPts val="600"/>
              </a:spcAft>
              <a:defRPr sz="1400">
                <a:solidFill>
                  <a:srgbClr val="1E293B"/>
                </a:solidFill>
                <a:latin typeface="Calibri"/>
              </a:defRPr>
            </a:pPr>
            <a:r>
              <a:t>• #pragma HLS ARRAY_PARTITION - Parallel array access</a:t>
            </a:r>
          </a:p>
          <a:p>
            <a:pPr>
              <a:spcAft>
                <a:spcPts val="600"/>
              </a:spcAft>
              <a:defRPr sz="1400">
                <a:solidFill>
                  <a:srgbClr val="1E293B"/>
                </a:solidFill>
                <a:latin typeface="Calibri"/>
              </a:defRPr>
            </a:pPr>
            <a:r>
              <a:t>• #pragma HLS INTERFACE - I/O port definition</a:t>
            </a:r>
          </a:p>
        </p:txBody>
      </p:sp>
      <p:sp>
        <p:nvSpPr>
          <p:cNvPr id="7" name="TextBox 6"/>
          <p:cNvSpPr txBox="1"/>
          <p:nvPr/>
        </p:nvSpPr>
        <p:spPr>
          <a:xfrm>
            <a:off x="6400800" y="1371600"/>
            <a:ext cx="5029200" cy="457200"/>
          </a:xfrm>
          <a:prstGeom prst="rect">
            <a:avLst/>
          </a:prstGeom>
          <a:noFill/>
        </p:spPr>
        <p:txBody>
          <a:bodyPr wrap="square">
            <a:spAutoFit/>
          </a:bodyPr>
          <a:lstStyle/>
          <a:p>
            <a:pPr algn="l">
              <a:defRPr sz="1800" b="1">
                <a:solidFill>
                  <a:srgbClr val="1E3A5F"/>
                </a:solidFill>
                <a:latin typeface="Calibri"/>
              </a:defRPr>
            </a:pPr>
            <a:r>
              <a:t>Design Decisions</a:t>
            </a:r>
          </a:p>
        </p:txBody>
      </p:sp>
      <p:sp>
        <p:nvSpPr>
          <p:cNvPr id="8" name="TextBox 7"/>
          <p:cNvSpPr txBox="1"/>
          <p:nvPr/>
        </p:nvSpPr>
        <p:spPr>
          <a:xfrm>
            <a:off x="6400800" y="1828800"/>
            <a:ext cx="5029200" cy="2286000"/>
          </a:xfrm>
          <a:prstGeom prst="rect">
            <a:avLst/>
          </a:prstGeom>
          <a:noFill/>
        </p:spPr>
        <p:txBody>
          <a:bodyPr wrap="square">
            <a:spAutoFit/>
          </a:bodyPr>
          <a:lstStyle/>
          <a:p>
            <a:pPr>
              <a:spcAft>
                <a:spcPts val="600"/>
              </a:spcAft>
              <a:defRPr sz="1400">
                <a:solidFill>
                  <a:srgbClr val="1E293B"/>
                </a:solidFill>
                <a:latin typeface="Calibri"/>
              </a:defRPr>
            </a:pPr>
            <a:r>
              <a:t>• All 16 rounds fully unrolled</a:t>
            </a:r>
          </a:p>
          <a:p>
            <a:pPr>
              <a:spcAft>
                <a:spcPts val="600"/>
              </a:spcAft>
              <a:defRPr sz="1400">
                <a:solidFill>
                  <a:srgbClr val="1E293B"/>
                </a:solidFill>
                <a:latin typeface="Calibri"/>
              </a:defRPr>
            </a:pPr>
            <a:r>
              <a:t>• S-boxes partitioned for parallel access</a:t>
            </a:r>
          </a:p>
          <a:p>
            <a:pPr>
              <a:spcAft>
                <a:spcPts val="600"/>
              </a:spcAft>
              <a:defRPr sz="1400">
                <a:solidFill>
                  <a:srgbClr val="1E293B"/>
                </a:solidFill>
                <a:latin typeface="Calibri"/>
              </a:defRPr>
            </a:pPr>
            <a:r>
              <a:t>• ap_uint&lt;64&gt; for data blocks</a:t>
            </a:r>
          </a:p>
          <a:p>
            <a:pPr>
              <a:spcAft>
                <a:spcPts val="600"/>
              </a:spcAft>
              <a:defRPr sz="1400">
                <a:solidFill>
                  <a:srgbClr val="1E293B"/>
                </a:solidFill>
                <a:latin typeface="Calibri"/>
              </a:defRPr>
            </a:pPr>
            <a:r>
              <a:t>• ap_uint&lt;48&gt; for subkeys</a:t>
            </a:r>
          </a:p>
          <a:p>
            <a:pPr>
              <a:spcAft>
                <a:spcPts val="600"/>
              </a:spcAft>
              <a:defRPr sz="1400">
                <a:solidFill>
                  <a:srgbClr val="1E293B"/>
                </a:solidFill>
                <a:latin typeface="Calibri"/>
              </a:defRPr>
            </a:pPr>
            <a:r>
              <a:t>• Separate encrypt/decrypt functions</a:t>
            </a:r>
          </a:p>
        </p:txBody>
      </p:sp>
      <p:sp>
        <p:nvSpPr>
          <p:cNvPr id="9" name="TextBox 8"/>
          <p:cNvSpPr txBox="1"/>
          <p:nvPr/>
        </p:nvSpPr>
        <p:spPr>
          <a:xfrm>
            <a:off x="457200" y="4114800"/>
            <a:ext cx="11277295" cy="457200"/>
          </a:xfrm>
          <a:prstGeom prst="rect">
            <a:avLst/>
          </a:prstGeom>
          <a:noFill/>
        </p:spPr>
        <p:txBody>
          <a:bodyPr wrap="square">
            <a:spAutoFit/>
          </a:bodyPr>
          <a:lstStyle/>
          <a:p>
            <a:pPr algn="l">
              <a:defRPr sz="1600" b="1">
                <a:solidFill>
                  <a:srgbClr val="1E3A5F"/>
                </a:solidFill>
                <a:latin typeface="Calibri"/>
              </a:defRPr>
            </a:pPr>
            <a:r>
              <a:t>Interface Definition</a:t>
            </a:r>
          </a:p>
        </p:txBody>
      </p:sp>
      <p:sp>
        <p:nvSpPr>
          <p:cNvPr id="10" name="Rounded Rectangle 9"/>
          <p:cNvSpPr/>
          <p:nvPr/>
        </p:nvSpPr>
        <p:spPr>
          <a:xfrm>
            <a:off x="457200" y="4572000"/>
            <a:ext cx="11277295" cy="164592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4663440"/>
            <a:ext cx="10972800" cy="1463040"/>
          </a:xfrm>
          <a:prstGeom prst="rect">
            <a:avLst/>
          </a:prstGeom>
          <a:noFill/>
        </p:spPr>
        <p:txBody>
          <a:bodyPr wrap="square">
            <a:spAutoFit/>
          </a:bodyPr>
          <a:lstStyle/>
          <a:p>
            <a:pPr algn="l">
              <a:defRPr sz="1100" b="0">
                <a:solidFill>
                  <a:srgbClr val="A5F3FC"/>
                </a:solidFill>
                <a:latin typeface="Consolas"/>
              </a:defRPr>
            </a:pPr>
            <a:r>
              <a:t>void des_encrypt(block_t plaintext, block_t key, block_t *ciphertext) {</a:t>
            </a:r>
            <a:br/>
            <a:r>
              <a:t>    #pragma HLS INTERFACE mode=ap_ctrl_hs port=return</a:t>
            </a:r>
            <a:br/>
            <a:r>
              <a:t>    #pragma HLS INTERFACE mode=ap_none port=plaintext</a:t>
            </a:r>
            <a:br/>
            <a:r>
              <a:t>    #pragma HLS INTERFACE mode=ap_none port=key  </a:t>
            </a:r>
            <a:br/>
            <a:r>
              <a:t>    #pragma HLS INTERFACE mode=ap_vld port=ciphertext</a:t>
            </a:r>
            <a:br/>
            <a: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20040"/>
            <a:ext cx="11277295" cy="731520"/>
          </a:xfrm>
          <a:prstGeom prst="rect">
            <a:avLst/>
          </a:prstGeom>
          <a:noFill/>
        </p:spPr>
        <p:txBody>
          <a:bodyPr wrap="square">
            <a:spAutoFit/>
          </a:bodyPr>
          <a:lstStyle/>
          <a:p>
            <a:pPr algn="ctr">
              <a:defRPr sz="3600" b="1">
                <a:solidFill>
                  <a:srgbClr val="FFFFFF"/>
                </a:solidFill>
                <a:latin typeface="Calibri"/>
              </a:defRPr>
            </a:pPr>
            <a:r>
              <a:t>C Simulation Results</a:t>
            </a:r>
          </a:p>
        </p:txBody>
      </p:sp>
      <p:sp>
        <p:nvSpPr>
          <p:cNvPr id="5" name="Rounded Rectangle 4"/>
          <p:cNvSpPr/>
          <p:nvPr/>
        </p:nvSpPr>
        <p:spPr>
          <a:xfrm>
            <a:off x="457200" y="1371600"/>
            <a:ext cx="3657600" cy="109728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54480"/>
            <a:ext cx="3657600" cy="731520"/>
          </a:xfrm>
          <a:prstGeom prst="rect">
            <a:avLst/>
          </a:prstGeom>
          <a:noFill/>
        </p:spPr>
        <p:txBody>
          <a:bodyPr wrap="square">
            <a:spAutoFit/>
          </a:bodyPr>
          <a:lstStyle/>
          <a:p>
            <a:pPr algn="ctr">
              <a:defRPr sz="2400" b="1">
                <a:solidFill>
                  <a:srgbClr val="FFFFFF"/>
                </a:solidFill>
                <a:latin typeface="Calibri"/>
              </a:defRPr>
            </a:pPr>
            <a:r>
              <a:t>ALL TESTS PASSED</a:t>
            </a:r>
          </a:p>
        </p:txBody>
      </p:sp>
      <p:sp>
        <p:nvSpPr>
          <p:cNvPr id="7" name="Rounded Rectangle 6"/>
          <p:cNvSpPr/>
          <p:nvPr/>
        </p:nvSpPr>
        <p:spPr>
          <a:xfrm>
            <a:off x="4572000" y="1371600"/>
            <a:ext cx="2286000" cy="1097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0" y="1508760"/>
            <a:ext cx="2286000" cy="731520"/>
          </a:xfrm>
          <a:prstGeom prst="rect">
            <a:avLst/>
          </a:prstGeom>
          <a:noFill/>
        </p:spPr>
        <p:txBody>
          <a:bodyPr wrap="square">
            <a:spAutoFit/>
          </a:bodyPr>
          <a:lstStyle/>
          <a:p>
            <a:pPr algn="ctr">
              <a:defRPr sz="3200" b="1">
                <a:solidFill>
                  <a:srgbClr val="10B981"/>
                </a:solidFill>
                <a:latin typeface="Calibri"/>
              </a:defRPr>
            </a:pPr>
            <a:r>
              <a:t>9/9</a:t>
            </a:r>
          </a:p>
        </p:txBody>
      </p:sp>
      <p:sp>
        <p:nvSpPr>
          <p:cNvPr id="9" name="TextBox 8"/>
          <p:cNvSpPr txBox="1"/>
          <p:nvPr/>
        </p:nvSpPr>
        <p:spPr>
          <a:xfrm>
            <a:off x="4572000" y="2148840"/>
            <a:ext cx="2286000" cy="365760"/>
          </a:xfrm>
          <a:prstGeom prst="rect">
            <a:avLst/>
          </a:prstGeom>
          <a:noFill/>
        </p:spPr>
        <p:txBody>
          <a:bodyPr wrap="square">
            <a:spAutoFit/>
          </a:bodyPr>
          <a:lstStyle/>
          <a:p>
            <a:pPr algn="ctr">
              <a:defRPr sz="1100" b="0">
                <a:solidFill>
                  <a:srgbClr val="64748B"/>
                </a:solidFill>
                <a:latin typeface="Calibri"/>
              </a:defRPr>
            </a:pPr>
            <a:r>
              <a:t>Tests Passed</a:t>
            </a:r>
          </a:p>
        </p:txBody>
      </p:sp>
      <p:sp>
        <p:nvSpPr>
          <p:cNvPr id="10" name="Rounded Rectangle 9"/>
          <p:cNvSpPr/>
          <p:nvPr/>
        </p:nvSpPr>
        <p:spPr>
          <a:xfrm>
            <a:off x="7132320" y="1371600"/>
            <a:ext cx="2286000" cy="1097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132320" y="1508760"/>
            <a:ext cx="2286000" cy="731520"/>
          </a:xfrm>
          <a:prstGeom prst="rect">
            <a:avLst/>
          </a:prstGeom>
          <a:noFill/>
        </p:spPr>
        <p:txBody>
          <a:bodyPr wrap="square">
            <a:spAutoFit/>
          </a:bodyPr>
          <a:lstStyle/>
          <a:p>
            <a:pPr algn="ctr">
              <a:defRPr sz="3200" b="1">
                <a:solidFill>
                  <a:srgbClr val="10B981"/>
                </a:solidFill>
                <a:latin typeface="Calibri"/>
              </a:defRPr>
            </a:pPr>
            <a:r>
              <a:t>100%</a:t>
            </a:r>
          </a:p>
        </p:txBody>
      </p:sp>
      <p:sp>
        <p:nvSpPr>
          <p:cNvPr id="12" name="TextBox 11"/>
          <p:cNvSpPr txBox="1"/>
          <p:nvPr/>
        </p:nvSpPr>
        <p:spPr>
          <a:xfrm>
            <a:off x="7132320" y="2148840"/>
            <a:ext cx="2286000" cy="365760"/>
          </a:xfrm>
          <a:prstGeom prst="rect">
            <a:avLst/>
          </a:prstGeom>
          <a:noFill/>
        </p:spPr>
        <p:txBody>
          <a:bodyPr wrap="square">
            <a:spAutoFit/>
          </a:bodyPr>
          <a:lstStyle/>
          <a:p>
            <a:pPr algn="ctr">
              <a:defRPr sz="1100" b="0">
                <a:solidFill>
                  <a:srgbClr val="64748B"/>
                </a:solidFill>
                <a:latin typeface="Calibri"/>
              </a:defRPr>
            </a:pPr>
            <a:r>
              <a:t>Pass Rate</a:t>
            </a:r>
          </a:p>
        </p:txBody>
      </p:sp>
      <p:sp>
        <p:nvSpPr>
          <p:cNvPr id="13" name="Rounded Rectangle 12"/>
          <p:cNvSpPr/>
          <p:nvPr/>
        </p:nvSpPr>
        <p:spPr>
          <a:xfrm>
            <a:off x="9692640" y="1371600"/>
            <a:ext cx="2286000" cy="1097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92640" y="1508760"/>
            <a:ext cx="2286000" cy="731520"/>
          </a:xfrm>
          <a:prstGeom prst="rect">
            <a:avLst/>
          </a:prstGeom>
          <a:noFill/>
        </p:spPr>
        <p:txBody>
          <a:bodyPr wrap="square">
            <a:spAutoFit/>
          </a:bodyPr>
          <a:lstStyle/>
          <a:p>
            <a:pPr algn="ctr">
              <a:defRPr sz="3200" b="1">
                <a:solidFill>
                  <a:srgbClr val="10B981"/>
                </a:solidFill>
                <a:latin typeface="Calibri"/>
              </a:defRPr>
            </a:pPr>
            <a:r>
              <a:t>0</a:t>
            </a:r>
          </a:p>
        </p:txBody>
      </p:sp>
      <p:sp>
        <p:nvSpPr>
          <p:cNvPr id="15" name="TextBox 14"/>
          <p:cNvSpPr txBox="1"/>
          <p:nvPr/>
        </p:nvSpPr>
        <p:spPr>
          <a:xfrm>
            <a:off x="9692640" y="2148840"/>
            <a:ext cx="2286000" cy="365760"/>
          </a:xfrm>
          <a:prstGeom prst="rect">
            <a:avLst/>
          </a:prstGeom>
          <a:noFill/>
        </p:spPr>
        <p:txBody>
          <a:bodyPr wrap="square">
            <a:spAutoFit/>
          </a:bodyPr>
          <a:lstStyle/>
          <a:p>
            <a:pPr algn="ctr">
              <a:defRPr sz="1100" b="0">
                <a:solidFill>
                  <a:srgbClr val="64748B"/>
                </a:solidFill>
                <a:latin typeface="Calibri"/>
              </a:defRPr>
            </a:pPr>
            <a:r>
              <a:t>Errors</a:t>
            </a:r>
          </a:p>
        </p:txBody>
      </p:sp>
      <p:sp>
        <p:nvSpPr>
          <p:cNvPr id="16" name="TextBox 15"/>
          <p:cNvSpPr txBox="1"/>
          <p:nvPr/>
        </p:nvSpPr>
        <p:spPr>
          <a:xfrm>
            <a:off x="457200" y="2743200"/>
            <a:ext cx="11277295" cy="369332"/>
          </a:xfrm>
          <a:prstGeom prst="rect">
            <a:avLst/>
          </a:prstGeom>
          <a:noFill/>
        </p:spPr>
        <p:txBody>
          <a:bodyPr wrap="square">
            <a:spAutoFit/>
          </a:bodyPr>
          <a:lstStyle/>
          <a:p>
            <a:pPr algn="l">
              <a:defRPr sz="1800" b="1">
                <a:solidFill>
                  <a:srgbClr val="1E3A5F"/>
                </a:solidFill>
                <a:latin typeface="Calibri"/>
              </a:defRPr>
            </a:pPr>
            <a:r>
              <a:rPr dirty="0"/>
              <a:t>Test Vectors Verified</a:t>
            </a:r>
          </a:p>
        </p:txBody>
      </p:sp>
      <p:sp>
        <p:nvSpPr>
          <p:cNvPr id="17" name="Rectangle 16"/>
          <p:cNvSpPr/>
          <p:nvPr/>
        </p:nvSpPr>
        <p:spPr>
          <a:xfrm>
            <a:off x="457200" y="3154680"/>
            <a:ext cx="11277295" cy="3657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3200400"/>
            <a:ext cx="2011680" cy="320040"/>
          </a:xfrm>
          <a:prstGeom prst="rect">
            <a:avLst/>
          </a:prstGeom>
          <a:noFill/>
        </p:spPr>
        <p:txBody>
          <a:bodyPr wrap="square">
            <a:spAutoFit/>
          </a:bodyPr>
          <a:lstStyle/>
          <a:p>
            <a:pPr algn="l">
              <a:defRPr sz="1100" b="1">
                <a:solidFill>
                  <a:srgbClr val="1E3A5F"/>
                </a:solidFill>
                <a:latin typeface="Calibri"/>
              </a:defRPr>
            </a:pPr>
            <a:r>
              <a:t>Test Name</a:t>
            </a:r>
          </a:p>
        </p:txBody>
      </p:sp>
      <p:sp>
        <p:nvSpPr>
          <p:cNvPr id="19" name="TextBox 18"/>
          <p:cNvSpPr txBox="1"/>
          <p:nvPr/>
        </p:nvSpPr>
        <p:spPr>
          <a:xfrm>
            <a:off x="2651760" y="3200400"/>
            <a:ext cx="2560320" cy="320040"/>
          </a:xfrm>
          <a:prstGeom prst="rect">
            <a:avLst/>
          </a:prstGeom>
          <a:noFill/>
        </p:spPr>
        <p:txBody>
          <a:bodyPr wrap="square">
            <a:spAutoFit/>
          </a:bodyPr>
          <a:lstStyle/>
          <a:p>
            <a:pPr algn="l">
              <a:defRPr sz="1100" b="1">
                <a:solidFill>
                  <a:srgbClr val="1E3A5F"/>
                </a:solidFill>
                <a:latin typeface="Calibri"/>
              </a:defRPr>
            </a:pPr>
            <a:r>
              <a:t>Key</a:t>
            </a:r>
          </a:p>
        </p:txBody>
      </p:sp>
      <p:sp>
        <p:nvSpPr>
          <p:cNvPr id="20" name="TextBox 19"/>
          <p:cNvSpPr txBox="1"/>
          <p:nvPr/>
        </p:nvSpPr>
        <p:spPr>
          <a:xfrm>
            <a:off x="5212080" y="3200400"/>
            <a:ext cx="2560320" cy="320040"/>
          </a:xfrm>
          <a:prstGeom prst="rect">
            <a:avLst/>
          </a:prstGeom>
          <a:noFill/>
        </p:spPr>
        <p:txBody>
          <a:bodyPr wrap="square">
            <a:spAutoFit/>
          </a:bodyPr>
          <a:lstStyle/>
          <a:p>
            <a:pPr algn="l">
              <a:defRPr sz="1100" b="1">
                <a:solidFill>
                  <a:srgbClr val="1E3A5F"/>
                </a:solidFill>
                <a:latin typeface="Calibri"/>
              </a:defRPr>
            </a:pPr>
            <a:r>
              <a:t>Plaintext</a:t>
            </a:r>
          </a:p>
        </p:txBody>
      </p:sp>
      <p:sp>
        <p:nvSpPr>
          <p:cNvPr id="21" name="TextBox 20"/>
          <p:cNvSpPr txBox="1"/>
          <p:nvPr/>
        </p:nvSpPr>
        <p:spPr>
          <a:xfrm>
            <a:off x="7772400" y="3200400"/>
            <a:ext cx="2560320" cy="320040"/>
          </a:xfrm>
          <a:prstGeom prst="rect">
            <a:avLst/>
          </a:prstGeom>
          <a:noFill/>
        </p:spPr>
        <p:txBody>
          <a:bodyPr wrap="square">
            <a:spAutoFit/>
          </a:bodyPr>
          <a:lstStyle/>
          <a:p>
            <a:pPr algn="l">
              <a:defRPr sz="1100" b="1">
                <a:solidFill>
                  <a:srgbClr val="1E3A5F"/>
                </a:solidFill>
                <a:latin typeface="Calibri"/>
              </a:defRPr>
            </a:pPr>
            <a:r>
              <a:t>Ciphertext</a:t>
            </a:r>
          </a:p>
        </p:txBody>
      </p:sp>
      <p:sp>
        <p:nvSpPr>
          <p:cNvPr id="22" name="TextBox 21"/>
          <p:cNvSpPr txBox="1"/>
          <p:nvPr/>
        </p:nvSpPr>
        <p:spPr>
          <a:xfrm>
            <a:off x="10332719" y="3200400"/>
            <a:ext cx="914400" cy="320040"/>
          </a:xfrm>
          <a:prstGeom prst="rect">
            <a:avLst/>
          </a:prstGeom>
          <a:noFill/>
        </p:spPr>
        <p:txBody>
          <a:bodyPr wrap="square">
            <a:spAutoFit/>
          </a:bodyPr>
          <a:lstStyle/>
          <a:p>
            <a:pPr algn="l">
              <a:defRPr sz="1100" b="1">
                <a:solidFill>
                  <a:srgbClr val="1E3A5F"/>
                </a:solidFill>
                <a:latin typeface="Calibri"/>
              </a:defRPr>
            </a:pPr>
            <a:r>
              <a:t>Status</a:t>
            </a:r>
          </a:p>
        </p:txBody>
      </p:sp>
      <p:sp>
        <p:nvSpPr>
          <p:cNvPr id="23" name="Rectangle 22"/>
          <p:cNvSpPr/>
          <p:nvPr/>
        </p:nvSpPr>
        <p:spPr>
          <a:xfrm>
            <a:off x="457200" y="3566160"/>
            <a:ext cx="11277295"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3611880"/>
            <a:ext cx="2011680" cy="365760"/>
          </a:xfrm>
          <a:prstGeom prst="rect">
            <a:avLst/>
          </a:prstGeom>
          <a:noFill/>
        </p:spPr>
        <p:txBody>
          <a:bodyPr wrap="square">
            <a:spAutoFit/>
          </a:bodyPr>
          <a:lstStyle/>
          <a:p>
            <a:pPr algn="l">
              <a:defRPr sz="1000" b="0">
                <a:solidFill>
                  <a:srgbClr val="1E293B"/>
                </a:solidFill>
                <a:latin typeface="Calibri"/>
              </a:defRPr>
            </a:pPr>
            <a:r>
              <a:t>Grabbe Example</a:t>
            </a:r>
          </a:p>
        </p:txBody>
      </p:sp>
      <p:sp>
        <p:nvSpPr>
          <p:cNvPr id="25" name="TextBox 24"/>
          <p:cNvSpPr txBox="1"/>
          <p:nvPr/>
        </p:nvSpPr>
        <p:spPr>
          <a:xfrm>
            <a:off x="2651760" y="3611880"/>
            <a:ext cx="2560320" cy="365760"/>
          </a:xfrm>
          <a:prstGeom prst="rect">
            <a:avLst/>
          </a:prstGeom>
          <a:noFill/>
        </p:spPr>
        <p:txBody>
          <a:bodyPr wrap="square">
            <a:spAutoFit/>
          </a:bodyPr>
          <a:lstStyle/>
          <a:p>
            <a:pPr algn="l">
              <a:defRPr sz="1000" b="0">
                <a:solidFill>
                  <a:srgbClr val="1E293B"/>
                </a:solidFill>
                <a:latin typeface="Calibri"/>
              </a:defRPr>
            </a:pPr>
            <a:r>
              <a:t>133457799BBCDFF1</a:t>
            </a:r>
          </a:p>
        </p:txBody>
      </p:sp>
      <p:sp>
        <p:nvSpPr>
          <p:cNvPr id="26" name="TextBox 25"/>
          <p:cNvSpPr txBox="1"/>
          <p:nvPr/>
        </p:nvSpPr>
        <p:spPr>
          <a:xfrm>
            <a:off x="5212080" y="3611880"/>
            <a:ext cx="2560320" cy="365760"/>
          </a:xfrm>
          <a:prstGeom prst="rect">
            <a:avLst/>
          </a:prstGeom>
          <a:noFill/>
        </p:spPr>
        <p:txBody>
          <a:bodyPr wrap="square">
            <a:spAutoFit/>
          </a:bodyPr>
          <a:lstStyle/>
          <a:p>
            <a:pPr algn="l">
              <a:defRPr sz="1000" b="0">
                <a:solidFill>
                  <a:srgbClr val="1E293B"/>
                </a:solidFill>
                <a:latin typeface="Calibri"/>
              </a:defRPr>
            </a:pPr>
            <a:r>
              <a:t>0123456789ABCDEF</a:t>
            </a:r>
          </a:p>
        </p:txBody>
      </p:sp>
      <p:sp>
        <p:nvSpPr>
          <p:cNvPr id="27" name="TextBox 26"/>
          <p:cNvSpPr txBox="1"/>
          <p:nvPr/>
        </p:nvSpPr>
        <p:spPr>
          <a:xfrm>
            <a:off x="7772400" y="3611880"/>
            <a:ext cx="2560320" cy="365760"/>
          </a:xfrm>
          <a:prstGeom prst="rect">
            <a:avLst/>
          </a:prstGeom>
          <a:noFill/>
        </p:spPr>
        <p:txBody>
          <a:bodyPr wrap="square">
            <a:spAutoFit/>
          </a:bodyPr>
          <a:lstStyle/>
          <a:p>
            <a:pPr algn="l">
              <a:defRPr sz="1000" b="0">
                <a:solidFill>
                  <a:srgbClr val="1E293B"/>
                </a:solidFill>
                <a:latin typeface="Calibri"/>
              </a:defRPr>
            </a:pPr>
            <a:r>
              <a:t>85E813540F0AB405</a:t>
            </a:r>
          </a:p>
        </p:txBody>
      </p:sp>
      <p:sp>
        <p:nvSpPr>
          <p:cNvPr id="28" name="TextBox 27"/>
          <p:cNvSpPr txBox="1"/>
          <p:nvPr/>
        </p:nvSpPr>
        <p:spPr>
          <a:xfrm>
            <a:off x="10332719" y="3611880"/>
            <a:ext cx="914400" cy="365760"/>
          </a:xfrm>
          <a:prstGeom prst="rect">
            <a:avLst/>
          </a:prstGeom>
          <a:noFill/>
        </p:spPr>
        <p:txBody>
          <a:bodyPr wrap="square">
            <a:spAutoFit/>
          </a:bodyPr>
          <a:lstStyle/>
          <a:p>
            <a:pPr algn="l">
              <a:defRPr sz="1000" b="0">
                <a:solidFill>
                  <a:srgbClr val="10B981"/>
                </a:solidFill>
                <a:latin typeface="Calibri"/>
              </a:defRPr>
            </a:pPr>
            <a:r>
              <a:t>PASS</a:t>
            </a:r>
          </a:p>
        </p:txBody>
      </p:sp>
      <p:sp>
        <p:nvSpPr>
          <p:cNvPr id="29" name="TextBox 28"/>
          <p:cNvSpPr txBox="1"/>
          <p:nvPr/>
        </p:nvSpPr>
        <p:spPr>
          <a:xfrm>
            <a:off x="640080" y="4114800"/>
            <a:ext cx="2011680" cy="365760"/>
          </a:xfrm>
          <a:prstGeom prst="rect">
            <a:avLst/>
          </a:prstGeom>
          <a:noFill/>
        </p:spPr>
        <p:txBody>
          <a:bodyPr wrap="square">
            <a:spAutoFit/>
          </a:bodyPr>
          <a:lstStyle/>
          <a:p>
            <a:pPr algn="l">
              <a:defRPr sz="1000" b="0">
                <a:solidFill>
                  <a:srgbClr val="1E293B"/>
                </a:solidFill>
                <a:latin typeface="Calibri"/>
              </a:defRPr>
            </a:pPr>
            <a:r>
              <a:t>Zero Ciphertext</a:t>
            </a:r>
          </a:p>
        </p:txBody>
      </p:sp>
      <p:sp>
        <p:nvSpPr>
          <p:cNvPr id="30" name="TextBox 29"/>
          <p:cNvSpPr txBox="1"/>
          <p:nvPr/>
        </p:nvSpPr>
        <p:spPr>
          <a:xfrm>
            <a:off x="2651760" y="4114800"/>
            <a:ext cx="2560320" cy="365760"/>
          </a:xfrm>
          <a:prstGeom prst="rect">
            <a:avLst/>
          </a:prstGeom>
          <a:noFill/>
        </p:spPr>
        <p:txBody>
          <a:bodyPr wrap="square">
            <a:spAutoFit/>
          </a:bodyPr>
          <a:lstStyle/>
          <a:p>
            <a:pPr algn="l">
              <a:defRPr sz="1000" b="0">
                <a:solidFill>
                  <a:srgbClr val="1E293B"/>
                </a:solidFill>
                <a:latin typeface="Calibri"/>
              </a:defRPr>
            </a:pPr>
            <a:r>
              <a:t>0E329232EA6D0D73</a:t>
            </a:r>
          </a:p>
        </p:txBody>
      </p:sp>
      <p:sp>
        <p:nvSpPr>
          <p:cNvPr id="31" name="TextBox 30"/>
          <p:cNvSpPr txBox="1"/>
          <p:nvPr/>
        </p:nvSpPr>
        <p:spPr>
          <a:xfrm>
            <a:off x="5212080" y="4114800"/>
            <a:ext cx="2560320" cy="365760"/>
          </a:xfrm>
          <a:prstGeom prst="rect">
            <a:avLst/>
          </a:prstGeom>
          <a:noFill/>
        </p:spPr>
        <p:txBody>
          <a:bodyPr wrap="square">
            <a:spAutoFit/>
          </a:bodyPr>
          <a:lstStyle/>
          <a:p>
            <a:pPr algn="l">
              <a:defRPr sz="1000" b="0">
                <a:solidFill>
                  <a:srgbClr val="1E293B"/>
                </a:solidFill>
                <a:latin typeface="Calibri"/>
              </a:defRPr>
            </a:pPr>
            <a:r>
              <a:t>8787878787878787</a:t>
            </a:r>
          </a:p>
        </p:txBody>
      </p:sp>
      <p:sp>
        <p:nvSpPr>
          <p:cNvPr id="32" name="TextBox 31"/>
          <p:cNvSpPr txBox="1"/>
          <p:nvPr/>
        </p:nvSpPr>
        <p:spPr>
          <a:xfrm>
            <a:off x="7772400" y="4114800"/>
            <a:ext cx="2560320" cy="365760"/>
          </a:xfrm>
          <a:prstGeom prst="rect">
            <a:avLst/>
          </a:prstGeom>
          <a:noFill/>
        </p:spPr>
        <p:txBody>
          <a:bodyPr wrap="square">
            <a:spAutoFit/>
          </a:bodyPr>
          <a:lstStyle/>
          <a:p>
            <a:pPr algn="l">
              <a:defRPr sz="1000" b="0">
                <a:solidFill>
                  <a:srgbClr val="1E293B"/>
                </a:solidFill>
                <a:latin typeface="Calibri"/>
              </a:defRPr>
            </a:pPr>
            <a:r>
              <a:t>0000000000000000</a:t>
            </a:r>
          </a:p>
        </p:txBody>
      </p:sp>
      <p:sp>
        <p:nvSpPr>
          <p:cNvPr id="33" name="TextBox 32"/>
          <p:cNvSpPr txBox="1"/>
          <p:nvPr/>
        </p:nvSpPr>
        <p:spPr>
          <a:xfrm>
            <a:off x="10332719" y="4114800"/>
            <a:ext cx="914400" cy="365760"/>
          </a:xfrm>
          <a:prstGeom prst="rect">
            <a:avLst/>
          </a:prstGeom>
          <a:noFill/>
        </p:spPr>
        <p:txBody>
          <a:bodyPr wrap="square">
            <a:spAutoFit/>
          </a:bodyPr>
          <a:lstStyle/>
          <a:p>
            <a:pPr algn="l">
              <a:defRPr sz="1000" b="0">
                <a:solidFill>
                  <a:srgbClr val="10B981"/>
                </a:solidFill>
                <a:latin typeface="Calibri"/>
              </a:defRPr>
            </a:pPr>
            <a:r>
              <a:t>PASS</a:t>
            </a:r>
          </a:p>
        </p:txBody>
      </p:sp>
      <p:sp>
        <p:nvSpPr>
          <p:cNvPr id="34" name="Rectangle 33"/>
          <p:cNvSpPr/>
          <p:nvPr/>
        </p:nvSpPr>
        <p:spPr>
          <a:xfrm>
            <a:off x="457200" y="4572000"/>
            <a:ext cx="11277295"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0080" y="4617720"/>
            <a:ext cx="2011680" cy="365760"/>
          </a:xfrm>
          <a:prstGeom prst="rect">
            <a:avLst/>
          </a:prstGeom>
          <a:noFill/>
        </p:spPr>
        <p:txBody>
          <a:bodyPr wrap="square">
            <a:spAutoFit/>
          </a:bodyPr>
          <a:lstStyle/>
          <a:p>
            <a:pPr algn="l">
              <a:defRPr sz="1000" b="0">
                <a:solidFill>
                  <a:srgbClr val="1E293B"/>
                </a:solidFill>
                <a:latin typeface="Calibri"/>
              </a:defRPr>
            </a:pPr>
            <a:r>
              <a:t>Classic FIPS</a:t>
            </a:r>
          </a:p>
        </p:txBody>
      </p:sp>
      <p:sp>
        <p:nvSpPr>
          <p:cNvPr id="36" name="TextBox 35"/>
          <p:cNvSpPr txBox="1"/>
          <p:nvPr/>
        </p:nvSpPr>
        <p:spPr>
          <a:xfrm>
            <a:off x="2651760" y="4617720"/>
            <a:ext cx="2560320" cy="365760"/>
          </a:xfrm>
          <a:prstGeom prst="rect">
            <a:avLst/>
          </a:prstGeom>
          <a:noFill/>
        </p:spPr>
        <p:txBody>
          <a:bodyPr wrap="square">
            <a:spAutoFit/>
          </a:bodyPr>
          <a:lstStyle/>
          <a:p>
            <a:pPr algn="l">
              <a:defRPr sz="1000" b="0">
                <a:solidFill>
                  <a:srgbClr val="1E293B"/>
                </a:solidFill>
                <a:latin typeface="Calibri"/>
              </a:defRPr>
            </a:pPr>
            <a:r>
              <a:t>FEDCBA9876543210</a:t>
            </a:r>
          </a:p>
        </p:txBody>
      </p:sp>
      <p:sp>
        <p:nvSpPr>
          <p:cNvPr id="37" name="TextBox 36"/>
          <p:cNvSpPr txBox="1"/>
          <p:nvPr/>
        </p:nvSpPr>
        <p:spPr>
          <a:xfrm>
            <a:off x="5212080" y="4617720"/>
            <a:ext cx="2560320" cy="365760"/>
          </a:xfrm>
          <a:prstGeom prst="rect">
            <a:avLst/>
          </a:prstGeom>
          <a:noFill/>
        </p:spPr>
        <p:txBody>
          <a:bodyPr wrap="square">
            <a:spAutoFit/>
          </a:bodyPr>
          <a:lstStyle/>
          <a:p>
            <a:pPr algn="l">
              <a:defRPr sz="1000" b="0">
                <a:solidFill>
                  <a:srgbClr val="1E293B"/>
                </a:solidFill>
                <a:latin typeface="Calibri"/>
              </a:defRPr>
            </a:pPr>
            <a:r>
              <a:t>0123456789ABCDEF</a:t>
            </a:r>
          </a:p>
        </p:txBody>
      </p:sp>
      <p:sp>
        <p:nvSpPr>
          <p:cNvPr id="38" name="TextBox 37"/>
          <p:cNvSpPr txBox="1"/>
          <p:nvPr/>
        </p:nvSpPr>
        <p:spPr>
          <a:xfrm>
            <a:off x="7772400" y="4617720"/>
            <a:ext cx="2560320" cy="365760"/>
          </a:xfrm>
          <a:prstGeom prst="rect">
            <a:avLst/>
          </a:prstGeom>
          <a:noFill/>
        </p:spPr>
        <p:txBody>
          <a:bodyPr wrap="square">
            <a:spAutoFit/>
          </a:bodyPr>
          <a:lstStyle/>
          <a:p>
            <a:pPr algn="l">
              <a:defRPr sz="1000" b="0">
                <a:solidFill>
                  <a:srgbClr val="1E293B"/>
                </a:solidFill>
                <a:latin typeface="Calibri"/>
              </a:defRPr>
            </a:pPr>
            <a:r>
              <a:t>ED39D950FA74BCC4</a:t>
            </a:r>
          </a:p>
        </p:txBody>
      </p:sp>
      <p:sp>
        <p:nvSpPr>
          <p:cNvPr id="39" name="TextBox 38"/>
          <p:cNvSpPr txBox="1"/>
          <p:nvPr/>
        </p:nvSpPr>
        <p:spPr>
          <a:xfrm>
            <a:off x="10332719" y="4617720"/>
            <a:ext cx="914400" cy="365760"/>
          </a:xfrm>
          <a:prstGeom prst="rect">
            <a:avLst/>
          </a:prstGeom>
          <a:noFill/>
        </p:spPr>
        <p:txBody>
          <a:bodyPr wrap="square">
            <a:spAutoFit/>
          </a:bodyPr>
          <a:lstStyle/>
          <a:p>
            <a:pPr algn="l">
              <a:defRPr sz="1000" b="0">
                <a:solidFill>
                  <a:srgbClr val="10B981"/>
                </a:solidFill>
                <a:latin typeface="Calibri"/>
              </a:defRPr>
            </a:pPr>
            <a:r>
              <a:t>PASS</a:t>
            </a:r>
          </a:p>
        </p:txBody>
      </p:sp>
      <p:sp>
        <p:nvSpPr>
          <p:cNvPr id="40" name="TextBox 39"/>
          <p:cNvSpPr txBox="1"/>
          <p:nvPr/>
        </p:nvSpPr>
        <p:spPr>
          <a:xfrm>
            <a:off x="640080" y="5120640"/>
            <a:ext cx="2011680" cy="365760"/>
          </a:xfrm>
          <a:prstGeom prst="rect">
            <a:avLst/>
          </a:prstGeom>
          <a:noFill/>
        </p:spPr>
        <p:txBody>
          <a:bodyPr wrap="square">
            <a:spAutoFit/>
          </a:bodyPr>
          <a:lstStyle/>
          <a:p>
            <a:pPr algn="l">
              <a:defRPr sz="1000" b="0">
                <a:solidFill>
                  <a:srgbClr val="1E293B"/>
                </a:solidFill>
                <a:latin typeface="Calibri"/>
              </a:defRPr>
            </a:pPr>
            <a:r>
              <a:t>Round-Trip</a:t>
            </a:r>
          </a:p>
        </p:txBody>
      </p:sp>
      <p:sp>
        <p:nvSpPr>
          <p:cNvPr id="41" name="TextBox 40"/>
          <p:cNvSpPr txBox="1"/>
          <p:nvPr/>
        </p:nvSpPr>
        <p:spPr>
          <a:xfrm>
            <a:off x="2651760" y="5120640"/>
            <a:ext cx="2560320" cy="365760"/>
          </a:xfrm>
          <a:prstGeom prst="rect">
            <a:avLst/>
          </a:prstGeom>
          <a:noFill/>
        </p:spPr>
        <p:txBody>
          <a:bodyPr wrap="square">
            <a:spAutoFit/>
          </a:bodyPr>
          <a:lstStyle/>
          <a:p>
            <a:pPr algn="l">
              <a:defRPr sz="1000" b="0">
                <a:solidFill>
                  <a:srgbClr val="1E293B"/>
                </a:solidFill>
                <a:latin typeface="Calibri"/>
              </a:defRPr>
            </a:pPr>
            <a:r>
              <a:t>133457799BBCDFF1</a:t>
            </a:r>
          </a:p>
        </p:txBody>
      </p:sp>
      <p:sp>
        <p:nvSpPr>
          <p:cNvPr id="42" name="TextBox 41"/>
          <p:cNvSpPr txBox="1"/>
          <p:nvPr/>
        </p:nvSpPr>
        <p:spPr>
          <a:xfrm>
            <a:off x="5212080" y="5120640"/>
            <a:ext cx="2560320" cy="365760"/>
          </a:xfrm>
          <a:prstGeom prst="rect">
            <a:avLst/>
          </a:prstGeom>
          <a:noFill/>
        </p:spPr>
        <p:txBody>
          <a:bodyPr wrap="square">
            <a:spAutoFit/>
          </a:bodyPr>
          <a:lstStyle/>
          <a:p>
            <a:pPr algn="l">
              <a:defRPr sz="1000" b="0">
                <a:solidFill>
                  <a:srgbClr val="1E293B"/>
                </a:solidFill>
                <a:latin typeface="Calibri"/>
              </a:defRPr>
            </a:pPr>
            <a:r>
              <a:t>DEADBEEFCAFEBABE</a:t>
            </a:r>
          </a:p>
        </p:txBody>
      </p:sp>
      <p:sp>
        <p:nvSpPr>
          <p:cNvPr id="43" name="TextBox 42"/>
          <p:cNvSpPr txBox="1"/>
          <p:nvPr/>
        </p:nvSpPr>
        <p:spPr>
          <a:xfrm>
            <a:off x="7772400" y="5120640"/>
            <a:ext cx="2560320" cy="365760"/>
          </a:xfrm>
          <a:prstGeom prst="rect">
            <a:avLst/>
          </a:prstGeom>
          <a:noFill/>
        </p:spPr>
        <p:txBody>
          <a:bodyPr wrap="square">
            <a:spAutoFit/>
          </a:bodyPr>
          <a:lstStyle/>
          <a:p>
            <a:pPr algn="l">
              <a:defRPr sz="1000" b="0">
                <a:solidFill>
                  <a:srgbClr val="1E293B"/>
                </a:solidFill>
                <a:latin typeface="Calibri"/>
              </a:defRPr>
            </a:pPr>
            <a:r>
              <a:t>Encrypt then Decrypt</a:t>
            </a:r>
          </a:p>
        </p:txBody>
      </p:sp>
      <p:sp>
        <p:nvSpPr>
          <p:cNvPr id="44" name="TextBox 43"/>
          <p:cNvSpPr txBox="1"/>
          <p:nvPr/>
        </p:nvSpPr>
        <p:spPr>
          <a:xfrm>
            <a:off x="10332719" y="5120640"/>
            <a:ext cx="914400" cy="365760"/>
          </a:xfrm>
          <a:prstGeom prst="rect">
            <a:avLst/>
          </a:prstGeom>
          <a:noFill/>
        </p:spPr>
        <p:txBody>
          <a:bodyPr wrap="square">
            <a:spAutoFit/>
          </a:bodyPr>
          <a:lstStyle/>
          <a:p>
            <a:pPr algn="l">
              <a:defRPr sz="1000" b="0">
                <a:solidFill>
                  <a:srgbClr val="10B981"/>
                </a:solidFill>
                <a:latin typeface="Calibri"/>
              </a:defRPr>
            </a:pPr>
            <a:r>
              <a:t>PASS</a:t>
            </a:r>
          </a:p>
        </p:txBody>
      </p:sp>
      <p:sp>
        <p:nvSpPr>
          <p:cNvPr id="45" name="TextBox 44"/>
          <p:cNvSpPr txBox="1"/>
          <p:nvPr/>
        </p:nvSpPr>
        <p:spPr>
          <a:xfrm>
            <a:off x="457200" y="5943600"/>
            <a:ext cx="11277295" cy="457200"/>
          </a:xfrm>
          <a:prstGeom prst="rect">
            <a:avLst/>
          </a:prstGeom>
          <a:noFill/>
        </p:spPr>
        <p:txBody>
          <a:bodyPr wrap="square">
            <a:spAutoFit/>
          </a:bodyPr>
          <a:lstStyle/>
          <a:p>
            <a:pPr algn="ctr">
              <a:defRPr sz="1200" b="0">
                <a:solidFill>
                  <a:srgbClr val="64748B"/>
                </a:solidFill>
                <a:latin typeface="Calibri"/>
              </a:defRPr>
            </a:pPr>
            <a:r>
              <a:t>Simulation completed in 1.826 seconds - Vitis HLS 2025.2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20040"/>
            <a:ext cx="11277295" cy="731520"/>
          </a:xfrm>
          <a:prstGeom prst="rect">
            <a:avLst/>
          </a:prstGeom>
          <a:noFill/>
        </p:spPr>
        <p:txBody>
          <a:bodyPr wrap="square">
            <a:spAutoFit/>
          </a:bodyPr>
          <a:lstStyle/>
          <a:p>
            <a:pPr algn="ctr">
              <a:defRPr sz="3600" b="1">
                <a:solidFill>
                  <a:srgbClr val="FFFFFF"/>
                </a:solidFill>
                <a:latin typeface="Calibri"/>
              </a:defRPr>
            </a:pPr>
            <a:r>
              <a:t>C Synthesis Results</a:t>
            </a:r>
          </a:p>
        </p:txBody>
      </p:sp>
      <p:sp>
        <p:nvSpPr>
          <p:cNvPr id="5" name="Rounded Rectangle 4"/>
          <p:cNvSpPr/>
          <p:nvPr/>
        </p:nvSpPr>
        <p:spPr>
          <a:xfrm>
            <a:off x="457200" y="1371600"/>
            <a:ext cx="3474720" cy="13716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08760"/>
            <a:ext cx="3474720" cy="731520"/>
          </a:xfrm>
          <a:prstGeom prst="rect">
            <a:avLst/>
          </a:prstGeom>
          <a:noFill/>
        </p:spPr>
        <p:txBody>
          <a:bodyPr wrap="square">
            <a:spAutoFit/>
          </a:bodyPr>
          <a:lstStyle/>
          <a:p>
            <a:pPr algn="ctr">
              <a:defRPr sz="3200" b="1">
                <a:solidFill>
                  <a:srgbClr val="0D9488"/>
                </a:solidFill>
                <a:latin typeface="Calibri"/>
              </a:defRPr>
            </a:pPr>
            <a:r>
              <a:t>148.72 MHz</a:t>
            </a:r>
          </a:p>
        </p:txBody>
      </p:sp>
      <p:sp>
        <p:nvSpPr>
          <p:cNvPr id="7" name="TextBox 6"/>
          <p:cNvSpPr txBox="1"/>
          <p:nvPr/>
        </p:nvSpPr>
        <p:spPr>
          <a:xfrm>
            <a:off x="457200" y="2148840"/>
            <a:ext cx="3474720" cy="365760"/>
          </a:xfrm>
          <a:prstGeom prst="rect">
            <a:avLst/>
          </a:prstGeom>
          <a:noFill/>
        </p:spPr>
        <p:txBody>
          <a:bodyPr wrap="square">
            <a:spAutoFit/>
          </a:bodyPr>
          <a:lstStyle/>
          <a:p>
            <a:pPr algn="ctr">
              <a:defRPr sz="1100" b="0">
                <a:solidFill>
                  <a:srgbClr val="64748B"/>
                </a:solidFill>
                <a:latin typeface="Calibri"/>
              </a:defRPr>
            </a:pPr>
            <a:r>
              <a:t>Estimated Fmax</a:t>
            </a:r>
          </a:p>
        </p:txBody>
      </p:sp>
      <p:sp>
        <p:nvSpPr>
          <p:cNvPr id="8" name="Rounded Rectangle 7"/>
          <p:cNvSpPr/>
          <p:nvPr/>
        </p:nvSpPr>
        <p:spPr>
          <a:xfrm>
            <a:off x="4206240" y="1371600"/>
            <a:ext cx="3474720" cy="13716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06240" y="1508760"/>
            <a:ext cx="3474720" cy="731520"/>
          </a:xfrm>
          <a:prstGeom prst="rect">
            <a:avLst/>
          </a:prstGeom>
          <a:noFill/>
        </p:spPr>
        <p:txBody>
          <a:bodyPr wrap="square">
            <a:spAutoFit/>
          </a:bodyPr>
          <a:lstStyle/>
          <a:p>
            <a:pPr algn="ctr">
              <a:defRPr sz="3200" b="1">
                <a:solidFill>
                  <a:srgbClr val="3D5A80"/>
                </a:solidFill>
                <a:latin typeface="Calibri"/>
              </a:defRPr>
            </a:pPr>
            <a:r>
              <a:t>10 ns</a:t>
            </a:r>
          </a:p>
        </p:txBody>
      </p:sp>
      <p:sp>
        <p:nvSpPr>
          <p:cNvPr id="10" name="TextBox 9"/>
          <p:cNvSpPr txBox="1"/>
          <p:nvPr/>
        </p:nvSpPr>
        <p:spPr>
          <a:xfrm>
            <a:off x="4206240" y="2148840"/>
            <a:ext cx="3474720" cy="365760"/>
          </a:xfrm>
          <a:prstGeom prst="rect">
            <a:avLst/>
          </a:prstGeom>
          <a:noFill/>
        </p:spPr>
        <p:txBody>
          <a:bodyPr wrap="square">
            <a:spAutoFit/>
          </a:bodyPr>
          <a:lstStyle/>
          <a:p>
            <a:pPr algn="ctr">
              <a:defRPr sz="1100" b="0">
                <a:solidFill>
                  <a:srgbClr val="64748B"/>
                </a:solidFill>
                <a:latin typeface="Calibri"/>
              </a:defRPr>
            </a:pPr>
            <a:r>
              <a:t>Target Clock</a:t>
            </a:r>
          </a:p>
        </p:txBody>
      </p:sp>
      <p:sp>
        <p:nvSpPr>
          <p:cNvPr id="11" name="Rounded Rectangle 10"/>
          <p:cNvSpPr/>
          <p:nvPr/>
        </p:nvSpPr>
        <p:spPr>
          <a:xfrm>
            <a:off x="7955279" y="1371600"/>
            <a:ext cx="3474720" cy="13716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55279" y="1508760"/>
            <a:ext cx="3474720" cy="731520"/>
          </a:xfrm>
          <a:prstGeom prst="rect">
            <a:avLst/>
          </a:prstGeom>
          <a:noFill/>
        </p:spPr>
        <p:txBody>
          <a:bodyPr wrap="square">
            <a:spAutoFit/>
          </a:bodyPr>
          <a:lstStyle/>
          <a:p>
            <a:pPr algn="ctr">
              <a:defRPr sz="3200" b="1">
                <a:solidFill>
                  <a:srgbClr val="10B981"/>
                </a:solidFill>
                <a:latin typeface="Calibri"/>
              </a:defRPr>
            </a:pPr>
            <a:r>
              <a:t>PASSED</a:t>
            </a:r>
          </a:p>
        </p:txBody>
      </p:sp>
      <p:sp>
        <p:nvSpPr>
          <p:cNvPr id="13" name="TextBox 12"/>
          <p:cNvSpPr txBox="1"/>
          <p:nvPr/>
        </p:nvSpPr>
        <p:spPr>
          <a:xfrm>
            <a:off x="7955279" y="2148840"/>
            <a:ext cx="3474720" cy="365760"/>
          </a:xfrm>
          <a:prstGeom prst="rect">
            <a:avLst/>
          </a:prstGeom>
          <a:noFill/>
        </p:spPr>
        <p:txBody>
          <a:bodyPr wrap="square">
            <a:spAutoFit/>
          </a:bodyPr>
          <a:lstStyle/>
          <a:p>
            <a:pPr algn="ctr">
              <a:defRPr sz="1100" b="0">
                <a:solidFill>
                  <a:srgbClr val="64748B"/>
                </a:solidFill>
                <a:latin typeface="Calibri"/>
              </a:defRPr>
            </a:pPr>
            <a:r>
              <a:t>Timing Met</a:t>
            </a:r>
          </a:p>
        </p:txBody>
      </p:sp>
      <p:sp>
        <p:nvSpPr>
          <p:cNvPr id="14" name="TextBox 13"/>
          <p:cNvSpPr txBox="1"/>
          <p:nvPr/>
        </p:nvSpPr>
        <p:spPr>
          <a:xfrm>
            <a:off x="457200" y="3017520"/>
            <a:ext cx="5029200" cy="457200"/>
          </a:xfrm>
          <a:prstGeom prst="rect">
            <a:avLst/>
          </a:prstGeom>
          <a:noFill/>
        </p:spPr>
        <p:txBody>
          <a:bodyPr wrap="square">
            <a:spAutoFit/>
          </a:bodyPr>
          <a:lstStyle/>
          <a:p>
            <a:pPr algn="l">
              <a:defRPr sz="1800" b="1">
                <a:solidFill>
                  <a:srgbClr val="1E3A5F"/>
                </a:solidFill>
                <a:latin typeface="Calibri"/>
              </a:defRPr>
            </a:pPr>
            <a:r>
              <a:t>Synthesized Module Hierarchy</a:t>
            </a:r>
          </a:p>
        </p:txBody>
      </p:sp>
      <p:sp>
        <p:nvSpPr>
          <p:cNvPr id="15" name="TextBox 14"/>
          <p:cNvSpPr txBox="1"/>
          <p:nvPr/>
        </p:nvSpPr>
        <p:spPr>
          <a:xfrm>
            <a:off x="457200" y="3474720"/>
            <a:ext cx="5029200" cy="1677382"/>
          </a:xfrm>
          <a:prstGeom prst="rect">
            <a:avLst/>
          </a:prstGeom>
          <a:noFill/>
        </p:spPr>
        <p:txBody>
          <a:bodyPr wrap="square">
            <a:spAutoFit/>
          </a:bodyPr>
          <a:lstStyle/>
          <a:p>
            <a:pPr>
              <a:spcAft>
                <a:spcPts val="600"/>
              </a:spcAft>
              <a:defRPr sz="1300">
                <a:solidFill>
                  <a:srgbClr val="1E293B"/>
                </a:solidFill>
                <a:latin typeface="Calibri"/>
              </a:defRPr>
            </a:pPr>
            <a:r>
              <a:rPr dirty="0"/>
              <a:t> </a:t>
            </a:r>
            <a:r>
              <a:rPr dirty="0" err="1"/>
              <a:t>des_encrypt</a:t>
            </a:r>
            <a:r>
              <a:rPr dirty="0"/>
              <a:t> (Top-level)</a:t>
            </a:r>
          </a:p>
          <a:p>
            <a:pPr>
              <a:spcAft>
                <a:spcPts val="600"/>
              </a:spcAft>
              <a:defRPr sz="1300">
                <a:solidFill>
                  <a:srgbClr val="1E293B"/>
                </a:solidFill>
                <a:latin typeface="Calibri"/>
              </a:defRPr>
            </a:pPr>
            <a:r>
              <a:rPr lang="en-US" dirty="0"/>
              <a:t> </a:t>
            </a:r>
            <a:r>
              <a:rPr dirty="0"/>
              <a:t>  - </a:t>
            </a:r>
            <a:r>
              <a:rPr dirty="0" err="1"/>
              <a:t>generate_subkeys</a:t>
            </a:r>
            <a:endParaRPr dirty="0"/>
          </a:p>
          <a:p>
            <a:pPr>
              <a:spcAft>
                <a:spcPts val="600"/>
              </a:spcAft>
              <a:defRPr sz="1300">
                <a:solidFill>
                  <a:srgbClr val="1E293B"/>
                </a:solidFill>
                <a:latin typeface="Calibri"/>
              </a:defRPr>
            </a:pPr>
            <a:r>
              <a:rPr dirty="0"/>
              <a:t>   - </a:t>
            </a:r>
            <a:r>
              <a:rPr dirty="0" err="1"/>
              <a:t>des_core</a:t>
            </a:r>
            <a:endParaRPr dirty="0"/>
          </a:p>
          <a:p>
            <a:pPr>
              <a:spcAft>
                <a:spcPts val="600"/>
              </a:spcAft>
              <a:defRPr sz="1300">
                <a:solidFill>
                  <a:srgbClr val="1E293B"/>
                </a:solidFill>
                <a:latin typeface="Calibri"/>
              </a:defRPr>
            </a:pPr>
            <a:r>
              <a:rPr dirty="0"/>
              <a:t>       - </a:t>
            </a:r>
            <a:r>
              <a:rPr dirty="0" err="1"/>
              <a:t>apply_IP</a:t>
            </a:r>
            <a:r>
              <a:rPr dirty="0"/>
              <a:t> (</a:t>
            </a:r>
            <a:r>
              <a:rPr dirty="0" err="1"/>
              <a:t>inlined</a:t>
            </a:r>
            <a:r>
              <a:rPr dirty="0"/>
              <a:t>)</a:t>
            </a:r>
          </a:p>
          <a:p>
            <a:pPr>
              <a:spcAft>
                <a:spcPts val="600"/>
              </a:spcAft>
              <a:defRPr sz="1300">
                <a:solidFill>
                  <a:srgbClr val="1E293B"/>
                </a:solidFill>
                <a:latin typeface="Calibri"/>
              </a:defRPr>
            </a:pPr>
            <a:r>
              <a:rPr dirty="0"/>
              <a:t>       - </a:t>
            </a:r>
            <a:r>
              <a:rPr dirty="0" err="1"/>
              <a:t>feistel</a:t>
            </a:r>
            <a:r>
              <a:rPr dirty="0"/>
              <a:t> x 16 (unrolled)</a:t>
            </a:r>
          </a:p>
          <a:p>
            <a:pPr>
              <a:spcAft>
                <a:spcPts val="600"/>
              </a:spcAft>
              <a:defRPr sz="1300">
                <a:solidFill>
                  <a:srgbClr val="1E293B"/>
                </a:solidFill>
                <a:latin typeface="Calibri"/>
              </a:defRPr>
            </a:pPr>
            <a:r>
              <a:rPr dirty="0"/>
              <a:t>       - </a:t>
            </a:r>
            <a:r>
              <a:rPr dirty="0" err="1"/>
              <a:t>apply_FP</a:t>
            </a:r>
            <a:r>
              <a:rPr dirty="0"/>
              <a:t> (</a:t>
            </a:r>
            <a:r>
              <a:rPr dirty="0" err="1"/>
              <a:t>inlined</a:t>
            </a:r>
            <a:r>
              <a:rPr dirty="0"/>
              <a:t>)</a:t>
            </a:r>
          </a:p>
        </p:txBody>
      </p:sp>
      <p:sp>
        <p:nvSpPr>
          <p:cNvPr id="16" name="TextBox 15"/>
          <p:cNvSpPr txBox="1"/>
          <p:nvPr/>
        </p:nvSpPr>
        <p:spPr>
          <a:xfrm>
            <a:off x="6400800" y="3017520"/>
            <a:ext cx="5029200" cy="457200"/>
          </a:xfrm>
          <a:prstGeom prst="rect">
            <a:avLst/>
          </a:prstGeom>
          <a:noFill/>
        </p:spPr>
        <p:txBody>
          <a:bodyPr wrap="square">
            <a:spAutoFit/>
          </a:bodyPr>
          <a:lstStyle/>
          <a:p>
            <a:pPr algn="l">
              <a:defRPr sz="1800" b="1">
                <a:solidFill>
                  <a:srgbClr val="1E3A5F"/>
                </a:solidFill>
                <a:latin typeface="Calibri"/>
              </a:defRPr>
            </a:pPr>
            <a:r>
              <a:t>Optimizations Applied</a:t>
            </a:r>
          </a:p>
        </p:txBody>
      </p:sp>
      <p:sp>
        <p:nvSpPr>
          <p:cNvPr id="17" name="TextBox 16"/>
          <p:cNvSpPr txBox="1"/>
          <p:nvPr/>
        </p:nvSpPr>
        <p:spPr>
          <a:xfrm>
            <a:off x="6400800" y="3474720"/>
            <a:ext cx="5029200" cy="2286000"/>
          </a:xfrm>
          <a:prstGeom prst="rect">
            <a:avLst/>
          </a:prstGeom>
          <a:noFill/>
        </p:spPr>
        <p:txBody>
          <a:bodyPr wrap="square">
            <a:spAutoFit/>
          </a:bodyPr>
          <a:lstStyle/>
          <a:p>
            <a:pPr>
              <a:spcAft>
                <a:spcPts val="600"/>
              </a:spcAft>
              <a:defRPr sz="1300">
                <a:solidFill>
                  <a:srgbClr val="1E293B"/>
                </a:solidFill>
                <a:latin typeface="Calibri"/>
              </a:defRPr>
            </a:pPr>
            <a:r>
              <a:t>• IP_LOOP: 64 iterations - parallel</a:t>
            </a:r>
          </a:p>
          <a:p>
            <a:pPr>
              <a:spcAft>
                <a:spcPts val="600"/>
              </a:spcAft>
              <a:defRPr sz="1300">
                <a:solidFill>
                  <a:srgbClr val="1E293B"/>
                </a:solidFill>
                <a:latin typeface="Calibri"/>
              </a:defRPr>
            </a:pPr>
            <a:r>
              <a:t>• FP_LOOP: 64 iterations - parallel</a:t>
            </a:r>
          </a:p>
          <a:p>
            <a:pPr>
              <a:spcAft>
                <a:spcPts val="600"/>
              </a:spcAft>
              <a:defRPr sz="1300">
                <a:solidFill>
                  <a:srgbClr val="1E293B"/>
                </a:solidFill>
                <a:latin typeface="Calibri"/>
              </a:defRPr>
            </a:pPr>
            <a:r>
              <a:t>• ROUNDS_LOOP: 16 - fully unrolled</a:t>
            </a:r>
          </a:p>
          <a:p>
            <a:pPr>
              <a:spcAft>
                <a:spcPts val="600"/>
              </a:spcAft>
              <a:defRPr sz="1300">
                <a:solidFill>
                  <a:srgbClr val="1E293B"/>
                </a:solidFill>
                <a:latin typeface="Calibri"/>
              </a:defRPr>
            </a:pPr>
            <a:r>
              <a:t>• SBOX_LOOP: 8 - parallel lookup</a:t>
            </a:r>
          </a:p>
          <a:p>
            <a:pPr>
              <a:spcAft>
                <a:spcPts val="600"/>
              </a:spcAft>
              <a:defRPr sz="1300">
                <a:solidFill>
                  <a:srgbClr val="1E293B"/>
                </a:solidFill>
                <a:latin typeface="Calibri"/>
              </a:defRPr>
            </a:pPr>
            <a:r>
              <a:t>• All permutation loops unrolled</a:t>
            </a:r>
          </a:p>
        </p:txBody>
      </p:sp>
      <p:sp>
        <p:nvSpPr>
          <p:cNvPr id="18" name="TextBox 17"/>
          <p:cNvSpPr txBox="1"/>
          <p:nvPr/>
        </p:nvSpPr>
        <p:spPr>
          <a:xfrm>
            <a:off x="457200" y="6126480"/>
            <a:ext cx="11277295" cy="365760"/>
          </a:xfrm>
          <a:prstGeom prst="rect">
            <a:avLst/>
          </a:prstGeom>
          <a:noFill/>
        </p:spPr>
        <p:txBody>
          <a:bodyPr wrap="square">
            <a:spAutoFit/>
          </a:bodyPr>
          <a:lstStyle/>
          <a:p>
            <a:pPr algn="ctr">
              <a:defRPr sz="1100" b="0">
                <a:solidFill>
                  <a:srgbClr val="64748B"/>
                </a:solidFill>
                <a:latin typeface="Calibri"/>
              </a:defRPr>
            </a:pPr>
            <a:r>
              <a:t>Synthesis completed in ~40 seconds - RTL generated in Verilog and VHDL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20040"/>
            <a:ext cx="11277295" cy="731520"/>
          </a:xfrm>
          <a:prstGeom prst="rect">
            <a:avLst/>
          </a:prstGeom>
          <a:noFill/>
        </p:spPr>
        <p:txBody>
          <a:bodyPr wrap="square">
            <a:spAutoFit/>
          </a:bodyPr>
          <a:lstStyle/>
          <a:p>
            <a:pPr algn="ctr">
              <a:defRPr sz="3600" b="1">
                <a:solidFill>
                  <a:srgbClr val="FFFFFF"/>
                </a:solidFill>
                <a:latin typeface="Calibri"/>
              </a:defRPr>
            </a:pPr>
            <a:r>
              <a:t>C/RTL Co-Simulation Results</a:t>
            </a:r>
          </a:p>
        </p:txBody>
      </p:sp>
      <p:sp>
        <p:nvSpPr>
          <p:cNvPr id="5" name="Rounded Rectangle 4"/>
          <p:cNvSpPr/>
          <p:nvPr/>
        </p:nvSpPr>
        <p:spPr>
          <a:xfrm>
            <a:off x="3200400" y="1371600"/>
            <a:ext cx="5790895" cy="9144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0" y="1508760"/>
            <a:ext cx="5790895" cy="640080"/>
          </a:xfrm>
          <a:prstGeom prst="rect">
            <a:avLst/>
          </a:prstGeom>
          <a:noFill/>
        </p:spPr>
        <p:txBody>
          <a:bodyPr wrap="square">
            <a:spAutoFit/>
          </a:bodyPr>
          <a:lstStyle/>
          <a:p>
            <a:pPr algn="ctr">
              <a:defRPr sz="2400" b="1">
                <a:solidFill>
                  <a:srgbClr val="FFFFFF"/>
                </a:solidFill>
                <a:latin typeface="Calibri"/>
              </a:defRPr>
            </a:pPr>
            <a:r>
              <a:t>RTL VERIFICATION PASSED</a:t>
            </a:r>
          </a:p>
        </p:txBody>
      </p:sp>
      <p:sp>
        <p:nvSpPr>
          <p:cNvPr id="7" name="TextBox 6"/>
          <p:cNvSpPr txBox="1"/>
          <p:nvPr/>
        </p:nvSpPr>
        <p:spPr>
          <a:xfrm>
            <a:off x="457200" y="2560320"/>
            <a:ext cx="5029200" cy="457200"/>
          </a:xfrm>
          <a:prstGeom prst="rect">
            <a:avLst/>
          </a:prstGeom>
          <a:noFill/>
        </p:spPr>
        <p:txBody>
          <a:bodyPr wrap="square">
            <a:spAutoFit/>
          </a:bodyPr>
          <a:lstStyle/>
          <a:p>
            <a:pPr algn="l">
              <a:defRPr sz="1800" b="1">
                <a:solidFill>
                  <a:srgbClr val="1E3A5F"/>
                </a:solidFill>
                <a:latin typeface="Calibri"/>
              </a:defRPr>
            </a:pPr>
            <a:r>
              <a:t>What is Co-Simulation?</a:t>
            </a:r>
          </a:p>
        </p:txBody>
      </p:sp>
      <p:sp>
        <p:nvSpPr>
          <p:cNvPr id="8" name="TextBox 7"/>
          <p:cNvSpPr txBox="1"/>
          <p:nvPr/>
        </p:nvSpPr>
        <p:spPr>
          <a:xfrm>
            <a:off x="457200" y="3017520"/>
            <a:ext cx="5486400" cy="2286000"/>
          </a:xfrm>
          <a:prstGeom prst="rect">
            <a:avLst/>
          </a:prstGeom>
          <a:noFill/>
        </p:spPr>
        <p:txBody>
          <a:bodyPr wrap="square">
            <a:spAutoFit/>
          </a:bodyPr>
          <a:lstStyle/>
          <a:p>
            <a:pPr>
              <a:spcAft>
                <a:spcPts val="600"/>
              </a:spcAft>
              <a:defRPr sz="1400">
                <a:solidFill>
                  <a:srgbClr val="1E293B"/>
                </a:solidFill>
                <a:latin typeface="Calibri"/>
              </a:defRPr>
            </a:pPr>
            <a:r>
              <a:t>• Verifies synthesized RTL matches C++ behavior</a:t>
            </a:r>
          </a:p>
          <a:p>
            <a:pPr>
              <a:spcAft>
                <a:spcPts val="600"/>
              </a:spcAft>
              <a:defRPr sz="1400">
                <a:solidFill>
                  <a:srgbClr val="1E293B"/>
                </a:solidFill>
                <a:latin typeface="Calibri"/>
              </a:defRPr>
            </a:pPr>
            <a:r>
              <a:t>• Runs testbench against actual Verilog/VHDL</a:t>
            </a:r>
          </a:p>
          <a:p>
            <a:pPr>
              <a:spcAft>
                <a:spcPts val="600"/>
              </a:spcAft>
              <a:defRPr sz="1400">
                <a:solidFill>
                  <a:srgbClr val="1E293B"/>
                </a:solidFill>
                <a:latin typeface="Calibri"/>
              </a:defRPr>
            </a:pPr>
            <a:r>
              <a:t>• Confirms cycle-accurate functionality</a:t>
            </a:r>
          </a:p>
          <a:p>
            <a:pPr>
              <a:spcAft>
                <a:spcPts val="600"/>
              </a:spcAft>
              <a:defRPr sz="1400">
                <a:solidFill>
                  <a:srgbClr val="1E293B"/>
                </a:solidFill>
                <a:latin typeface="Calibri"/>
              </a:defRPr>
            </a:pPr>
            <a:r>
              <a:t>• Validates interface timing</a:t>
            </a:r>
          </a:p>
        </p:txBody>
      </p:sp>
      <p:sp>
        <p:nvSpPr>
          <p:cNvPr id="9" name="TextBox 8"/>
          <p:cNvSpPr txBox="1"/>
          <p:nvPr/>
        </p:nvSpPr>
        <p:spPr>
          <a:xfrm>
            <a:off x="6400800" y="2560320"/>
            <a:ext cx="5029200" cy="457200"/>
          </a:xfrm>
          <a:prstGeom prst="rect">
            <a:avLst/>
          </a:prstGeom>
          <a:noFill/>
        </p:spPr>
        <p:txBody>
          <a:bodyPr wrap="square">
            <a:spAutoFit/>
          </a:bodyPr>
          <a:lstStyle/>
          <a:p>
            <a:pPr algn="l">
              <a:defRPr sz="1800" b="1">
                <a:solidFill>
                  <a:srgbClr val="1E3A5F"/>
                </a:solidFill>
                <a:latin typeface="Calibri"/>
              </a:defRPr>
            </a:pPr>
            <a:r>
              <a:t>Verification Results</a:t>
            </a:r>
          </a:p>
        </p:txBody>
      </p:sp>
      <p:sp>
        <p:nvSpPr>
          <p:cNvPr id="10" name="TextBox 9"/>
          <p:cNvSpPr txBox="1"/>
          <p:nvPr/>
        </p:nvSpPr>
        <p:spPr>
          <a:xfrm>
            <a:off x="6400800" y="3017520"/>
            <a:ext cx="5029200" cy="2286000"/>
          </a:xfrm>
          <a:prstGeom prst="rect">
            <a:avLst/>
          </a:prstGeom>
          <a:noFill/>
        </p:spPr>
        <p:txBody>
          <a:bodyPr wrap="square">
            <a:spAutoFit/>
          </a:bodyPr>
          <a:lstStyle/>
          <a:p>
            <a:pPr>
              <a:spcAft>
                <a:spcPts val="600"/>
              </a:spcAft>
              <a:defRPr sz="1400">
                <a:solidFill>
                  <a:srgbClr val="1E293B"/>
                </a:solidFill>
                <a:latin typeface="Calibri"/>
              </a:defRPr>
            </a:pPr>
            <a:r>
              <a:t>• All test vectors verified in RTL</a:t>
            </a:r>
          </a:p>
          <a:p>
            <a:pPr>
              <a:spcAft>
                <a:spcPts val="600"/>
              </a:spcAft>
              <a:defRPr sz="1400">
                <a:solidFill>
                  <a:srgbClr val="1E293B"/>
                </a:solidFill>
                <a:latin typeface="Calibri"/>
              </a:defRPr>
            </a:pPr>
            <a:r>
              <a:t>• Output matches C++ golden model</a:t>
            </a:r>
          </a:p>
          <a:p>
            <a:pPr>
              <a:spcAft>
                <a:spcPts val="600"/>
              </a:spcAft>
              <a:defRPr sz="1400">
                <a:solidFill>
                  <a:srgbClr val="1E293B"/>
                </a:solidFill>
                <a:latin typeface="Calibri"/>
              </a:defRPr>
            </a:pPr>
            <a:r>
              <a:t>• No timing violations detected</a:t>
            </a:r>
          </a:p>
          <a:p>
            <a:pPr>
              <a:spcAft>
                <a:spcPts val="600"/>
              </a:spcAft>
              <a:defRPr sz="1400">
                <a:solidFill>
                  <a:srgbClr val="1E293B"/>
                </a:solidFill>
                <a:latin typeface="Calibri"/>
              </a:defRPr>
            </a:pPr>
            <a:r>
              <a:t>• Interface handshaking confirmed</a:t>
            </a:r>
          </a:p>
        </p:txBody>
      </p:sp>
      <p:sp>
        <p:nvSpPr>
          <p:cNvPr id="11" name="TextBox 10"/>
          <p:cNvSpPr txBox="1"/>
          <p:nvPr/>
        </p:nvSpPr>
        <p:spPr>
          <a:xfrm>
            <a:off x="457200" y="5029200"/>
            <a:ext cx="11277295" cy="457200"/>
          </a:xfrm>
          <a:prstGeom prst="rect">
            <a:avLst/>
          </a:prstGeom>
          <a:noFill/>
        </p:spPr>
        <p:txBody>
          <a:bodyPr wrap="square">
            <a:spAutoFit/>
          </a:bodyPr>
          <a:lstStyle/>
          <a:p>
            <a:pPr algn="ctr">
              <a:defRPr sz="1600" b="1">
                <a:solidFill>
                  <a:srgbClr val="1E3A5F"/>
                </a:solidFill>
                <a:latin typeface="Calibri"/>
              </a:defRPr>
            </a:pPr>
            <a:r>
              <a:t>Verification Flow Completed</a:t>
            </a:r>
          </a:p>
        </p:txBody>
      </p:sp>
      <p:sp>
        <p:nvSpPr>
          <p:cNvPr id="12" name="Rounded Rectangle 11"/>
          <p:cNvSpPr/>
          <p:nvPr/>
        </p:nvSpPr>
        <p:spPr>
          <a:xfrm>
            <a:off x="1371600" y="5486400"/>
            <a:ext cx="2926080" cy="8229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71600" y="5577840"/>
            <a:ext cx="2926080" cy="365760"/>
          </a:xfrm>
          <a:prstGeom prst="rect">
            <a:avLst/>
          </a:prstGeom>
          <a:noFill/>
        </p:spPr>
        <p:txBody>
          <a:bodyPr wrap="square">
            <a:spAutoFit/>
          </a:bodyPr>
          <a:lstStyle/>
          <a:p>
            <a:pPr algn="ctr">
              <a:defRPr sz="1400" b="1">
                <a:solidFill>
                  <a:srgbClr val="FFFFFF"/>
                </a:solidFill>
                <a:latin typeface="Calibri"/>
              </a:defRPr>
            </a:pPr>
            <a:r>
              <a:t>C Simulation</a:t>
            </a:r>
          </a:p>
        </p:txBody>
      </p:sp>
      <p:sp>
        <p:nvSpPr>
          <p:cNvPr id="14" name="TextBox 13"/>
          <p:cNvSpPr txBox="1"/>
          <p:nvPr/>
        </p:nvSpPr>
        <p:spPr>
          <a:xfrm>
            <a:off x="1371600" y="5897880"/>
            <a:ext cx="2926080" cy="274320"/>
          </a:xfrm>
          <a:prstGeom prst="rect">
            <a:avLst/>
          </a:prstGeom>
          <a:noFill/>
        </p:spPr>
        <p:txBody>
          <a:bodyPr wrap="square">
            <a:spAutoFit/>
          </a:bodyPr>
          <a:lstStyle/>
          <a:p>
            <a:pPr algn="ctr">
              <a:defRPr sz="1000" b="0">
                <a:solidFill>
                  <a:srgbClr val="FFFFFF"/>
                </a:solidFill>
                <a:latin typeface="Calibri"/>
              </a:defRPr>
            </a:pPr>
            <a:r>
              <a:t>Functional Test</a:t>
            </a:r>
          </a:p>
        </p:txBody>
      </p:sp>
      <p:sp>
        <p:nvSpPr>
          <p:cNvPr id="15" name="TextBox 14"/>
          <p:cNvSpPr txBox="1"/>
          <p:nvPr/>
        </p:nvSpPr>
        <p:spPr>
          <a:xfrm>
            <a:off x="4389120" y="5669280"/>
            <a:ext cx="457200" cy="457200"/>
          </a:xfrm>
          <a:prstGeom prst="rect">
            <a:avLst/>
          </a:prstGeom>
          <a:noFill/>
        </p:spPr>
        <p:txBody>
          <a:bodyPr wrap="square">
            <a:spAutoFit/>
          </a:bodyPr>
          <a:lstStyle/>
          <a:p>
            <a:pPr algn="l">
              <a:defRPr sz="2400" b="1">
                <a:solidFill>
                  <a:srgbClr val="1E3A5F"/>
                </a:solidFill>
                <a:latin typeface="Calibri"/>
              </a:defRPr>
            </a:pPr>
            <a:r>
              <a:t>-&gt;</a:t>
            </a:r>
          </a:p>
        </p:txBody>
      </p:sp>
      <p:sp>
        <p:nvSpPr>
          <p:cNvPr id="16" name="Rounded Rectangle 15"/>
          <p:cNvSpPr/>
          <p:nvPr/>
        </p:nvSpPr>
        <p:spPr>
          <a:xfrm>
            <a:off x="4846320" y="5486400"/>
            <a:ext cx="2926080" cy="8229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846320" y="5577840"/>
            <a:ext cx="2926080" cy="365760"/>
          </a:xfrm>
          <a:prstGeom prst="rect">
            <a:avLst/>
          </a:prstGeom>
          <a:noFill/>
        </p:spPr>
        <p:txBody>
          <a:bodyPr wrap="square">
            <a:spAutoFit/>
          </a:bodyPr>
          <a:lstStyle/>
          <a:p>
            <a:pPr algn="ctr">
              <a:defRPr sz="1400" b="1">
                <a:solidFill>
                  <a:srgbClr val="FFFFFF"/>
                </a:solidFill>
                <a:latin typeface="Calibri"/>
              </a:defRPr>
            </a:pPr>
            <a:r>
              <a:t>C Synthesis</a:t>
            </a:r>
          </a:p>
        </p:txBody>
      </p:sp>
      <p:sp>
        <p:nvSpPr>
          <p:cNvPr id="18" name="TextBox 17"/>
          <p:cNvSpPr txBox="1"/>
          <p:nvPr/>
        </p:nvSpPr>
        <p:spPr>
          <a:xfrm>
            <a:off x="4846320" y="5897880"/>
            <a:ext cx="2926080" cy="274320"/>
          </a:xfrm>
          <a:prstGeom prst="rect">
            <a:avLst/>
          </a:prstGeom>
          <a:noFill/>
        </p:spPr>
        <p:txBody>
          <a:bodyPr wrap="square">
            <a:spAutoFit/>
          </a:bodyPr>
          <a:lstStyle/>
          <a:p>
            <a:pPr algn="ctr">
              <a:defRPr sz="1000" b="0">
                <a:solidFill>
                  <a:srgbClr val="FFFFFF"/>
                </a:solidFill>
                <a:latin typeface="Calibri"/>
              </a:defRPr>
            </a:pPr>
            <a:r>
              <a:t>RTL Generation</a:t>
            </a:r>
          </a:p>
        </p:txBody>
      </p:sp>
      <p:sp>
        <p:nvSpPr>
          <p:cNvPr id="19" name="TextBox 18"/>
          <p:cNvSpPr txBox="1"/>
          <p:nvPr/>
        </p:nvSpPr>
        <p:spPr>
          <a:xfrm>
            <a:off x="7863840" y="5669280"/>
            <a:ext cx="548640" cy="457200"/>
          </a:xfrm>
          <a:prstGeom prst="rect">
            <a:avLst/>
          </a:prstGeom>
          <a:noFill/>
        </p:spPr>
        <p:txBody>
          <a:bodyPr wrap="square">
            <a:spAutoFit/>
          </a:bodyPr>
          <a:lstStyle/>
          <a:p>
            <a:pPr algn="l">
              <a:defRPr sz="2400" b="1">
                <a:solidFill>
                  <a:srgbClr val="1E3A5F"/>
                </a:solidFill>
                <a:latin typeface="Calibri"/>
              </a:defRPr>
            </a:pPr>
            <a:r>
              <a:t>-&gt;</a:t>
            </a:r>
          </a:p>
        </p:txBody>
      </p:sp>
      <p:sp>
        <p:nvSpPr>
          <p:cNvPr id="20" name="Rounded Rectangle 19"/>
          <p:cNvSpPr/>
          <p:nvPr/>
        </p:nvSpPr>
        <p:spPr>
          <a:xfrm>
            <a:off x="8321040" y="5486400"/>
            <a:ext cx="2926080" cy="8229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21040" y="5577840"/>
            <a:ext cx="2926080" cy="365760"/>
          </a:xfrm>
          <a:prstGeom prst="rect">
            <a:avLst/>
          </a:prstGeom>
          <a:noFill/>
        </p:spPr>
        <p:txBody>
          <a:bodyPr wrap="square">
            <a:spAutoFit/>
          </a:bodyPr>
          <a:lstStyle/>
          <a:p>
            <a:pPr algn="ctr">
              <a:defRPr sz="1400" b="1">
                <a:solidFill>
                  <a:srgbClr val="FFFFFF"/>
                </a:solidFill>
                <a:latin typeface="Calibri"/>
              </a:defRPr>
            </a:pPr>
            <a:r>
              <a:t>Co-Simulation</a:t>
            </a:r>
          </a:p>
        </p:txBody>
      </p:sp>
      <p:sp>
        <p:nvSpPr>
          <p:cNvPr id="22" name="TextBox 21"/>
          <p:cNvSpPr txBox="1"/>
          <p:nvPr/>
        </p:nvSpPr>
        <p:spPr>
          <a:xfrm>
            <a:off x="8321040" y="5897880"/>
            <a:ext cx="2926080" cy="274320"/>
          </a:xfrm>
          <a:prstGeom prst="rect">
            <a:avLst/>
          </a:prstGeom>
          <a:noFill/>
        </p:spPr>
        <p:txBody>
          <a:bodyPr wrap="square">
            <a:spAutoFit/>
          </a:bodyPr>
          <a:lstStyle/>
          <a:p>
            <a:pPr algn="ctr">
              <a:defRPr sz="1000" b="0">
                <a:solidFill>
                  <a:srgbClr val="FFFFFF"/>
                </a:solidFill>
                <a:latin typeface="Calibri"/>
              </a:defRPr>
            </a:pPr>
            <a:r>
              <a:t>RTL Verification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0"/>
            <a:ext cx="11277295" cy="731520"/>
          </a:xfrm>
          <a:prstGeom prst="rect">
            <a:avLst/>
          </a:prstGeom>
          <a:noFill/>
        </p:spPr>
        <p:txBody>
          <a:bodyPr wrap="square">
            <a:spAutoFit/>
          </a:bodyPr>
          <a:lstStyle/>
          <a:p>
            <a:pPr algn="ctr">
              <a:defRPr sz="4400" b="1">
                <a:solidFill>
                  <a:srgbClr val="FFFFFF"/>
                </a:solidFill>
                <a:latin typeface="Calibri"/>
              </a:defRPr>
            </a:pPr>
            <a:r>
              <a:t>Summary &amp; Conclusions</a:t>
            </a:r>
          </a:p>
        </p:txBody>
      </p:sp>
      <p:sp>
        <p:nvSpPr>
          <p:cNvPr id="4" name="Rounded Rectangle 3"/>
          <p:cNvSpPr/>
          <p:nvPr/>
        </p:nvSpPr>
        <p:spPr>
          <a:xfrm>
            <a:off x="914400" y="1645920"/>
            <a:ext cx="10362895" cy="1005840"/>
          </a:xfrm>
          <a:prstGeom prst="roundRect">
            <a:avLst/>
          </a:prstGeom>
          <a:solidFill>
            <a:srgbClr val="2D4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1920240"/>
            <a:ext cx="640080" cy="457200"/>
          </a:xfrm>
          <a:prstGeom prst="rect">
            <a:avLst/>
          </a:prstGeom>
          <a:noFill/>
        </p:spPr>
        <p:txBody>
          <a:bodyPr wrap="square">
            <a:spAutoFit/>
          </a:bodyPr>
          <a:lstStyle/>
          <a:p>
            <a:pPr algn="l">
              <a:defRPr sz="1600" b="1">
                <a:solidFill>
                  <a:srgbClr val="10B981"/>
                </a:solidFill>
                <a:latin typeface="Calibri"/>
              </a:defRPr>
            </a:pPr>
            <a:r>
              <a:t>[OK]</a:t>
            </a:r>
          </a:p>
        </p:txBody>
      </p:sp>
      <p:sp>
        <p:nvSpPr>
          <p:cNvPr id="6" name="TextBox 5"/>
          <p:cNvSpPr txBox="1"/>
          <p:nvPr/>
        </p:nvSpPr>
        <p:spPr>
          <a:xfrm>
            <a:off x="1828800" y="1783080"/>
            <a:ext cx="8686800" cy="457200"/>
          </a:xfrm>
          <a:prstGeom prst="rect">
            <a:avLst/>
          </a:prstGeom>
          <a:noFill/>
        </p:spPr>
        <p:txBody>
          <a:bodyPr wrap="square">
            <a:spAutoFit/>
          </a:bodyPr>
          <a:lstStyle/>
          <a:p>
            <a:pPr algn="l">
              <a:defRPr sz="2000" b="1">
                <a:solidFill>
                  <a:srgbClr val="FFFFFF"/>
                </a:solidFill>
                <a:latin typeface="Calibri"/>
              </a:defRPr>
            </a:pPr>
            <a:r>
              <a:t>Functional DES Implementation</a:t>
            </a:r>
          </a:p>
        </p:txBody>
      </p:sp>
      <p:sp>
        <p:nvSpPr>
          <p:cNvPr id="7" name="TextBox 6"/>
          <p:cNvSpPr txBox="1"/>
          <p:nvPr/>
        </p:nvSpPr>
        <p:spPr>
          <a:xfrm>
            <a:off x="1828800" y="2148840"/>
            <a:ext cx="8686800" cy="365760"/>
          </a:xfrm>
          <a:prstGeom prst="rect">
            <a:avLst/>
          </a:prstGeom>
          <a:noFill/>
        </p:spPr>
        <p:txBody>
          <a:bodyPr wrap="square">
            <a:spAutoFit/>
          </a:bodyPr>
          <a:lstStyle/>
          <a:p>
            <a:pPr algn="l">
              <a:defRPr sz="1400" b="0">
                <a:solidFill>
                  <a:srgbClr val="98C1D9"/>
                </a:solidFill>
                <a:latin typeface="Calibri"/>
              </a:defRPr>
            </a:pPr>
            <a:r>
              <a:t>Encryption and decryption verified with NIST test vectors</a:t>
            </a:r>
          </a:p>
        </p:txBody>
      </p:sp>
      <p:sp>
        <p:nvSpPr>
          <p:cNvPr id="8" name="Rounded Rectangle 7"/>
          <p:cNvSpPr/>
          <p:nvPr/>
        </p:nvSpPr>
        <p:spPr>
          <a:xfrm>
            <a:off x="914400" y="2788920"/>
            <a:ext cx="10362895" cy="1005840"/>
          </a:xfrm>
          <a:prstGeom prst="roundRect">
            <a:avLst/>
          </a:prstGeom>
          <a:solidFill>
            <a:srgbClr val="2D4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97280" y="3063239"/>
            <a:ext cx="640080" cy="457200"/>
          </a:xfrm>
          <a:prstGeom prst="rect">
            <a:avLst/>
          </a:prstGeom>
          <a:noFill/>
        </p:spPr>
        <p:txBody>
          <a:bodyPr wrap="square">
            <a:spAutoFit/>
          </a:bodyPr>
          <a:lstStyle/>
          <a:p>
            <a:pPr algn="l">
              <a:defRPr sz="1600" b="1">
                <a:solidFill>
                  <a:srgbClr val="10B981"/>
                </a:solidFill>
                <a:latin typeface="Calibri"/>
              </a:defRPr>
            </a:pPr>
            <a:r>
              <a:t>[OK]</a:t>
            </a:r>
          </a:p>
        </p:txBody>
      </p:sp>
      <p:sp>
        <p:nvSpPr>
          <p:cNvPr id="10" name="TextBox 9"/>
          <p:cNvSpPr txBox="1"/>
          <p:nvPr/>
        </p:nvSpPr>
        <p:spPr>
          <a:xfrm>
            <a:off x="1828800" y="2926079"/>
            <a:ext cx="8686800" cy="457200"/>
          </a:xfrm>
          <a:prstGeom prst="rect">
            <a:avLst/>
          </a:prstGeom>
          <a:noFill/>
        </p:spPr>
        <p:txBody>
          <a:bodyPr wrap="square">
            <a:spAutoFit/>
          </a:bodyPr>
          <a:lstStyle/>
          <a:p>
            <a:pPr algn="l">
              <a:defRPr sz="2000" b="1">
                <a:solidFill>
                  <a:srgbClr val="FFFFFF"/>
                </a:solidFill>
                <a:latin typeface="Calibri"/>
              </a:defRPr>
            </a:pPr>
            <a:r>
              <a:t>Successful HLS Synthesis</a:t>
            </a:r>
          </a:p>
        </p:txBody>
      </p:sp>
      <p:sp>
        <p:nvSpPr>
          <p:cNvPr id="11" name="TextBox 10"/>
          <p:cNvSpPr txBox="1"/>
          <p:nvPr/>
        </p:nvSpPr>
        <p:spPr>
          <a:xfrm>
            <a:off x="1828800" y="3291839"/>
            <a:ext cx="8686800" cy="365760"/>
          </a:xfrm>
          <a:prstGeom prst="rect">
            <a:avLst/>
          </a:prstGeom>
          <a:noFill/>
        </p:spPr>
        <p:txBody>
          <a:bodyPr wrap="square">
            <a:spAutoFit/>
          </a:bodyPr>
          <a:lstStyle/>
          <a:p>
            <a:pPr algn="l">
              <a:defRPr sz="1400" b="0">
                <a:solidFill>
                  <a:srgbClr val="98C1D9"/>
                </a:solidFill>
                <a:latin typeface="Calibri"/>
              </a:defRPr>
            </a:pPr>
            <a:r>
              <a:t>148.72 MHz achieved on Artix-7 FPGA (target: 100 MHz)</a:t>
            </a:r>
          </a:p>
        </p:txBody>
      </p:sp>
      <p:sp>
        <p:nvSpPr>
          <p:cNvPr id="12" name="Rounded Rectangle 11"/>
          <p:cNvSpPr/>
          <p:nvPr/>
        </p:nvSpPr>
        <p:spPr>
          <a:xfrm>
            <a:off x="914400" y="3931920"/>
            <a:ext cx="10362895" cy="1005840"/>
          </a:xfrm>
          <a:prstGeom prst="roundRect">
            <a:avLst/>
          </a:prstGeom>
          <a:solidFill>
            <a:srgbClr val="2D4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97280" y="4206240"/>
            <a:ext cx="640080" cy="457200"/>
          </a:xfrm>
          <a:prstGeom prst="rect">
            <a:avLst/>
          </a:prstGeom>
          <a:noFill/>
        </p:spPr>
        <p:txBody>
          <a:bodyPr wrap="square">
            <a:spAutoFit/>
          </a:bodyPr>
          <a:lstStyle/>
          <a:p>
            <a:pPr algn="l">
              <a:defRPr sz="1600" b="1">
                <a:solidFill>
                  <a:srgbClr val="10B981"/>
                </a:solidFill>
                <a:latin typeface="Calibri"/>
              </a:defRPr>
            </a:pPr>
            <a:r>
              <a:t>[OK]</a:t>
            </a:r>
          </a:p>
        </p:txBody>
      </p:sp>
      <p:sp>
        <p:nvSpPr>
          <p:cNvPr id="14" name="TextBox 13"/>
          <p:cNvSpPr txBox="1"/>
          <p:nvPr/>
        </p:nvSpPr>
        <p:spPr>
          <a:xfrm>
            <a:off x="1828800" y="4069080"/>
            <a:ext cx="8686800" cy="457200"/>
          </a:xfrm>
          <a:prstGeom prst="rect">
            <a:avLst/>
          </a:prstGeom>
          <a:noFill/>
        </p:spPr>
        <p:txBody>
          <a:bodyPr wrap="square">
            <a:spAutoFit/>
          </a:bodyPr>
          <a:lstStyle/>
          <a:p>
            <a:pPr algn="l">
              <a:defRPr sz="2000" b="1">
                <a:solidFill>
                  <a:srgbClr val="FFFFFF"/>
                </a:solidFill>
                <a:latin typeface="Calibri"/>
              </a:defRPr>
            </a:pPr>
            <a:r>
              <a:t>RTL Verification Complete</a:t>
            </a:r>
          </a:p>
        </p:txBody>
      </p:sp>
      <p:sp>
        <p:nvSpPr>
          <p:cNvPr id="15" name="TextBox 14"/>
          <p:cNvSpPr txBox="1"/>
          <p:nvPr/>
        </p:nvSpPr>
        <p:spPr>
          <a:xfrm>
            <a:off x="1828800" y="4434840"/>
            <a:ext cx="8686800" cy="365760"/>
          </a:xfrm>
          <a:prstGeom prst="rect">
            <a:avLst/>
          </a:prstGeom>
          <a:noFill/>
        </p:spPr>
        <p:txBody>
          <a:bodyPr wrap="square">
            <a:spAutoFit/>
          </a:bodyPr>
          <a:lstStyle/>
          <a:p>
            <a:pPr algn="l">
              <a:defRPr sz="1400" b="0">
                <a:solidFill>
                  <a:srgbClr val="98C1D9"/>
                </a:solidFill>
                <a:latin typeface="Calibri"/>
              </a:defRPr>
            </a:pPr>
            <a:r>
              <a:t>Co-simulation passed all 9 test cases</a:t>
            </a:r>
          </a:p>
        </p:txBody>
      </p:sp>
      <p:sp>
        <p:nvSpPr>
          <p:cNvPr id="16" name="Rounded Rectangle 15"/>
          <p:cNvSpPr/>
          <p:nvPr/>
        </p:nvSpPr>
        <p:spPr>
          <a:xfrm>
            <a:off x="914400" y="5074920"/>
            <a:ext cx="10362895" cy="1005840"/>
          </a:xfrm>
          <a:prstGeom prst="roundRect">
            <a:avLst/>
          </a:prstGeom>
          <a:solidFill>
            <a:srgbClr val="2D4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97280" y="5349240"/>
            <a:ext cx="640080" cy="457200"/>
          </a:xfrm>
          <a:prstGeom prst="rect">
            <a:avLst/>
          </a:prstGeom>
          <a:noFill/>
        </p:spPr>
        <p:txBody>
          <a:bodyPr wrap="square">
            <a:spAutoFit/>
          </a:bodyPr>
          <a:lstStyle/>
          <a:p>
            <a:pPr algn="l">
              <a:defRPr sz="1600" b="1">
                <a:solidFill>
                  <a:srgbClr val="10B981"/>
                </a:solidFill>
                <a:latin typeface="Calibri"/>
              </a:defRPr>
            </a:pPr>
            <a:r>
              <a:t>[OK]</a:t>
            </a:r>
          </a:p>
        </p:txBody>
      </p:sp>
      <p:sp>
        <p:nvSpPr>
          <p:cNvPr id="18" name="TextBox 17"/>
          <p:cNvSpPr txBox="1"/>
          <p:nvPr/>
        </p:nvSpPr>
        <p:spPr>
          <a:xfrm>
            <a:off x="1828800" y="5212080"/>
            <a:ext cx="8686800" cy="457200"/>
          </a:xfrm>
          <a:prstGeom prst="rect">
            <a:avLst/>
          </a:prstGeom>
          <a:noFill/>
        </p:spPr>
        <p:txBody>
          <a:bodyPr wrap="square">
            <a:spAutoFit/>
          </a:bodyPr>
          <a:lstStyle/>
          <a:p>
            <a:pPr algn="l">
              <a:defRPr sz="2000" b="1">
                <a:solidFill>
                  <a:srgbClr val="FFFFFF"/>
                </a:solidFill>
                <a:latin typeface="Calibri"/>
              </a:defRPr>
            </a:pPr>
            <a:r>
              <a:t>Fully Parallel Design</a:t>
            </a:r>
          </a:p>
        </p:txBody>
      </p:sp>
      <p:sp>
        <p:nvSpPr>
          <p:cNvPr id="19" name="TextBox 18"/>
          <p:cNvSpPr txBox="1"/>
          <p:nvPr/>
        </p:nvSpPr>
        <p:spPr>
          <a:xfrm>
            <a:off x="1828800" y="5577840"/>
            <a:ext cx="8686800" cy="365760"/>
          </a:xfrm>
          <a:prstGeom prst="rect">
            <a:avLst/>
          </a:prstGeom>
          <a:noFill/>
        </p:spPr>
        <p:txBody>
          <a:bodyPr wrap="square">
            <a:spAutoFit/>
          </a:bodyPr>
          <a:lstStyle/>
          <a:p>
            <a:pPr algn="l">
              <a:defRPr sz="1400" b="0">
                <a:solidFill>
                  <a:srgbClr val="98C1D9"/>
                </a:solidFill>
                <a:latin typeface="Calibri"/>
              </a:defRPr>
            </a:pPr>
            <a:r>
              <a:t>All 16 Feistel rounds unrolled in hardware</a:t>
            </a:r>
          </a:p>
        </p:txBody>
      </p:sp>
      <p:sp>
        <p:nvSpPr>
          <p:cNvPr id="20" name="TextBox 19"/>
          <p:cNvSpPr txBox="1"/>
          <p:nvPr/>
        </p:nvSpPr>
        <p:spPr>
          <a:xfrm>
            <a:off x="457200" y="6217920"/>
            <a:ext cx="11277295" cy="365760"/>
          </a:xfrm>
          <a:prstGeom prst="rect">
            <a:avLst/>
          </a:prstGeom>
          <a:noFill/>
        </p:spPr>
        <p:txBody>
          <a:bodyPr wrap="square">
            <a:spAutoFit/>
          </a:bodyPr>
          <a:lstStyle/>
          <a:p>
            <a:pPr algn="ctr">
              <a:defRPr sz="1200" b="0">
                <a:solidFill>
                  <a:srgbClr val="64748B"/>
                </a:solidFill>
                <a:latin typeface="Calibri"/>
              </a:defRPr>
            </a:pPr>
            <a:r>
              <a:t>DES FPGA Implementation - Vitis HLS 2025.2 - Artix-7 xc7a100tcsg324-1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ă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195</TotalTime>
  <Words>931</Words>
  <Application>Microsoft Office PowerPoint</Application>
  <PresentationFormat>Ecran lat</PresentationFormat>
  <Paragraphs>162</Paragraphs>
  <Slides>8</Slides>
  <Notes>1</Notes>
  <HiddenSlides>0</HiddenSlides>
  <MMClips>0</MMClips>
  <ScaleCrop>false</ScaleCrop>
  <HeadingPairs>
    <vt:vector size="6" baseType="variant">
      <vt:variant>
        <vt:lpstr>Fonturi utilizate</vt:lpstr>
      </vt:variant>
      <vt:variant>
        <vt:i4>3</vt:i4>
      </vt:variant>
      <vt:variant>
        <vt:lpstr>Temă</vt:lpstr>
      </vt:variant>
      <vt:variant>
        <vt:i4>1</vt:i4>
      </vt:variant>
      <vt:variant>
        <vt:lpstr>Titluri diapozitive</vt:lpstr>
      </vt:variant>
      <vt:variant>
        <vt:i4>8</vt:i4>
      </vt:variant>
    </vt:vector>
  </HeadingPairs>
  <TitlesOfParts>
    <vt:vector size="12" baseType="lpstr">
      <vt:lpstr>Aptos</vt:lpstr>
      <vt:lpstr>Arial</vt:lpstr>
      <vt:lpstr>Calibri</vt:lpstr>
      <vt:lpstr>Office Theme</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Marian-Vlăduţ ADAM (153998)</cp:lastModifiedBy>
  <cp:revision>5</cp:revision>
  <dcterms:created xsi:type="dcterms:W3CDTF">2013-01-27T09:14:16Z</dcterms:created>
  <dcterms:modified xsi:type="dcterms:W3CDTF">2026-02-06T18:07:51Z</dcterms:modified>
  <cp:category/>
</cp:coreProperties>
</file>